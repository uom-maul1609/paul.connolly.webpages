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256" r:id="rId2"/>
    <p:sldId id="260" r:id="rId3"/>
    <p:sldId id="332" r:id="rId4"/>
    <p:sldId id="346" r:id="rId5"/>
    <p:sldId id="262" r:id="rId6"/>
    <p:sldId id="269" r:id="rId7"/>
    <p:sldId id="261" r:id="rId8"/>
    <p:sldId id="264" r:id="rId9"/>
    <p:sldId id="257" r:id="rId10"/>
    <p:sldId id="291" r:id="rId11"/>
    <p:sldId id="290" r:id="rId12"/>
    <p:sldId id="274" r:id="rId13"/>
    <p:sldId id="285" r:id="rId14"/>
    <p:sldId id="276" r:id="rId15"/>
    <p:sldId id="279" r:id="rId16"/>
    <p:sldId id="301" r:id="rId17"/>
    <p:sldId id="348" r:id="rId18"/>
    <p:sldId id="258" r:id="rId19"/>
    <p:sldId id="294" r:id="rId20"/>
    <p:sldId id="349" r:id="rId21"/>
  </p:sldIdLst>
  <p:sldSz cx="9144000" cy="6858000" type="screen4x3"/>
  <p:notesSz cx="9144000" cy="6858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08"/>
    <p:restoredTop sz="93493"/>
  </p:normalViewPr>
  <p:slideViewPr>
    <p:cSldViewPr>
      <p:cViewPr varScale="1">
        <p:scale>
          <a:sx n="118" d="100"/>
          <a:sy n="118" d="100"/>
        </p:scale>
        <p:origin x="1248" y="2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813E61C-4FCB-BD41-BCF4-755A5A7A429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7747400A-28F8-AC45-ABF4-31B4F9D477E4}"/>
              </a:ext>
            </a:extLst>
          </p:cNvPr>
          <p:cNvSpPr>
            <a:spLocks noGrp="1"/>
          </p:cNvSpPr>
          <p:nvPr>
            <p:ph type="dt" sz="quarter" idx="1"/>
          </p:nvPr>
        </p:nvSpPr>
        <p:spPr>
          <a:xfrm>
            <a:off x="5180013" y="0"/>
            <a:ext cx="3962400" cy="3429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0A8E777A-7008-F446-9B4B-192F26286225}" type="datetimeFigureOut">
              <a:rPr lang="en-US" altLang="en-US"/>
              <a:pPr>
                <a:defRPr/>
              </a:pPr>
              <a:t>2/10/25</a:t>
            </a:fld>
            <a:endParaRPr lang="en-US" altLang="en-US"/>
          </a:p>
        </p:txBody>
      </p:sp>
      <p:sp>
        <p:nvSpPr>
          <p:cNvPr id="4" name="Footer Placeholder 3">
            <a:extLst>
              <a:ext uri="{FF2B5EF4-FFF2-40B4-BE49-F238E27FC236}">
                <a16:creationId xmlns:a16="http://schemas.microsoft.com/office/drawing/2014/main" id="{8EB2B22A-C88A-FD48-AA0F-17BF33A5B313}"/>
              </a:ext>
            </a:extLst>
          </p:cNvPr>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4124EE3-0DDB-9444-ACF0-6B6E1BCA28FE}"/>
              </a:ext>
            </a:extLst>
          </p:cNvPr>
          <p:cNvSpPr>
            <a:spLocks noGrp="1"/>
          </p:cNvSpPr>
          <p:nvPr>
            <p:ph type="sldNum" sz="quarter" idx="3"/>
          </p:nvPr>
        </p:nvSpPr>
        <p:spPr>
          <a:xfrm>
            <a:off x="5180013" y="6513513"/>
            <a:ext cx="3962400" cy="3429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BC811E7A-02E7-E948-92D0-943E8BF4AEC0}"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FF1C868-D855-E645-8B44-8BAF0A037FD0}"/>
              </a:ext>
            </a:extLst>
          </p:cNvPr>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GB"/>
          </a:p>
        </p:txBody>
      </p:sp>
      <p:sp>
        <p:nvSpPr>
          <p:cNvPr id="16387" name="Rectangle 3">
            <a:extLst>
              <a:ext uri="{FF2B5EF4-FFF2-40B4-BE49-F238E27FC236}">
                <a16:creationId xmlns:a16="http://schemas.microsoft.com/office/drawing/2014/main" id="{D7CC43DE-7DCB-F94C-9784-80D70DEAF6EF}"/>
              </a:ext>
            </a:extLst>
          </p:cNvPr>
          <p:cNvSpPr>
            <a:spLocks noGrp="1" noChangeArrowheads="1"/>
          </p:cNvSpPr>
          <p:nvPr>
            <p:ph type="dt" idx="1"/>
          </p:nvPr>
        </p:nvSpPr>
        <p:spPr bwMode="auto">
          <a:xfrm>
            <a:off x="5180013" y="0"/>
            <a:ext cx="3962400" cy="3429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mn-cs"/>
              </a:defRPr>
            </a:lvl1pPr>
          </a:lstStyle>
          <a:p>
            <a:pPr>
              <a:defRPr/>
            </a:pPr>
            <a:endParaRPr lang="en-GB"/>
          </a:p>
        </p:txBody>
      </p:sp>
      <p:sp>
        <p:nvSpPr>
          <p:cNvPr id="14340" name="Rectangle 4">
            <a:extLst>
              <a:ext uri="{FF2B5EF4-FFF2-40B4-BE49-F238E27FC236}">
                <a16:creationId xmlns:a16="http://schemas.microsoft.com/office/drawing/2014/main" id="{6AEEE67A-48D6-3856-F802-9C8EC3A85EC9}"/>
              </a:ext>
            </a:extLst>
          </p:cNvPr>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9" name="Rectangle 5">
            <a:extLst>
              <a:ext uri="{FF2B5EF4-FFF2-40B4-BE49-F238E27FC236}">
                <a16:creationId xmlns:a16="http://schemas.microsoft.com/office/drawing/2014/main" id="{64B7E930-E022-DD45-9C76-8AB0B0468D1D}"/>
              </a:ext>
            </a:extLst>
          </p:cNvPr>
          <p:cNvSpPr>
            <a:spLocks noGrp="1" noChangeArrowheads="1"/>
          </p:cNvSpPr>
          <p:nvPr>
            <p:ph type="body" sz="quarter" idx="3"/>
          </p:nvPr>
        </p:nvSpPr>
        <p:spPr bwMode="auto">
          <a:xfrm>
            <a:off x="914400" y="3257550"/>
            <a:ext cx="7315200" cy="30861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6390" name="Rectangle 6">
            <a:extLst>
              <a:ext uri="{FF2B5EF4-FFF2-40B4-BE49-F238E27FC236}">
                <a16:creationId xmlns:a16="http://schemas.microsoft.com/office/drawing/2014/main" id="{61533C38-277F-D24B-B6E3-9A0EA1E25B6A}"/>
              </a:ext>
            </a:extLst>
          </p:cNvPr>
          <p:cNvSpPr>
            <a:spLocks noGrp="1" noChangeArrowheads="1"/>
          </p:cNvSpPr>
          <p:nvPr>
            <p:ph type="ftr" sz="quarter" idx="4"/>
          </p:nvPr>
        </p:nvSpPr>
        <p:spPr bwMode="auto">
          <a:xfrm>
            <a:off x="0" y="6513513"/>
            <a:ext cx="3962400" cy="3429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GB"/>
          </a:p>
        </p:txBody>
      </p:sp>
      <p:sp>
        <p:nvSpPr>
          <p:cNvPr id="16391" name="Rectangle 7">
            <a:extLst>
              <a:ext uri="{FF2B5EF4-FFF2-40B4-BE49-F238E27FC236}">
                <a16:creationId xmlns:a16="http://schemas.microsoft.com/office/drawing/2014/main" id="{B59BB447-59A5-144B-AF74-D4160469454F}"/>
              </a:ext>
            </a:extLst>
          </p:cNvPr>
          <p:cNvSpPr>
            <a:spLocks noGrp="1" noChangeArrowheads="1"/>
          </p:cNvSpPr>
          <p:nvPr>
            <p:ph type="sldNum" sz="quarter" idx="5"/>
          </p:nvPr>
        </p:nvSpPr>
        <p:spPr bwMode="auto">
          <a:xfrm>
            <a:off x="5180013" y="6513513"/>
            <a:ext cx="3962400" cy="3429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b" anchorCtr="0" compatLnSpc="1">
            <a:prstTxWarp prst="textNoShape">
              <a:avLst/>
            </a:prstTxWarp>
          </a:bodyPr>
          <a:lstStyle>
            <a:lvl1pPr algn="r" eaLnBrk="1" hangingPunct="1">
              <a:defRPr sz="1200"/>
            </a:lvl1pPr>
          </a:lstStyle>
          <a:p>
            <a:fld id="{7689FA8D-7536-2644-8CFB-33168A379F16}"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6">
            <a:extLst>
              <a:ext uri="{FF2B5EF4-FFF2-40B4-BE49-F238E27FC236}">
                <a16:creationId xmlns:a16="http://schemas.microsoft.com/office/drawing/2014/main" id="{91498251-A3AC-181A-9E15-2E981A2DC99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tabLst>
                <a:tab pos="449263" algn="l"/>
                <a:tab pos="898525" algn="l"/>
                <a:tab pos="1347788" algn="l"/>
                <a:tab pos="1797050" algn="l"/>
                <a:tab pos="2246313" algn="l"/>
                <a:tab pos="2695575" algn="l"/>
                <a:tab pos="3144838" algn="l"/>
              </a:tabLst>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tabLst>
                <a:tab pos="449263" algn="l"/>
                <a:tab pos="898525" algn="l"/>
                <a:tab pos="1347788" algn="l"/>
                <a:tab pos="1797050" algn="l"/>
                <a:tab pos="2246313" algn="l"/>
                <a:tab pos="2695575" algn="l"/>
                <a:tab pos="3144838" algn="l"/>
              </a:tabLst>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tabLst>
                <a:tab pos="449263" algn="l"/>
                <a:tab pos="898525" algn="l"/>
                <a:tab pos="1347788" algn="l"/>
                <a:tab pos="1797050" algn="l"/>
                <a:tab pos="2246313" algn="l"/>
                <a:tab pos="2695575" algn="l"/>
                <a:tab pos="3144838" algn="l"/>
              </a:tabLst>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tabLst>
                <a:tab pos="449263" algn="l"/>
                <a:tab pos="898525" algn="l"/>
                <a:tab pos="1347788" algn="l"/>
                <a:tab pos="1797050" algn="l"/>
                <a:tab pos="2246313" algn="l"/>
                <a:tab pos="2695575" algn="l"/>
                <a:tab pos="3144838" algn="l"/>
              </a:tabLst>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tabLst>
                <a:tab pos="449263" algn="l"/>
                <a:tab pos="898525" algn="l"/>
                <a:tab pos="1347788" algn="l"/>
                <a:tab pos="1797050" algn="l"/>
                <a:tab pos="2246313" algn="l"/>
                <a:tab pos="2695575" algn="l"/>
                <a:tab pos="3144838" algn="l"/>
              </a:tabLst>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tabLst>
                <a:tab pos="449263" algn="l"/>
                <a:tab pos="898525" algn="l"/>
                <a:tab pos="1347788" algn="l"/>
                <a:tab pos="1797050" algn="l"/>
                <a:tab pos="2246313" algn="l"/>
                <a:tab pos="2695575" algn="l"/>
                <a:tab pos="3144838" algn="l"/>
              </a:tabLs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tabLst>
                <a:tab pos="449263" algn="l"/>
                <a:tab pos="898525" algn="l"/>
                <a:tab pos="1347788" algn="l"/>
                <a:tab pos="1797050" algn="l"/>
                <a:tab pos="2246313" algn="l"/>
                <a:tab pos="2695575" algn="l"/>
                <a:tab pos="3144838" algn="l"/>
              </a:tabLs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tabLst>
                <a:tab pos="449263" algn="l"/>
                <a:tab pos="898525" algn="l"/>
                <a:tab pos="1347788" algn="l"/>
                <a:tab pos="1797050" algn="l"/>
                <a:tab pos="2246313" algn="l"/>
                <a:tab pos="2695575" algn="l"/>
                <a:tab pos="3144838" algn="l"/>
              </a:tabLs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tabLst>
                <a:tab pos="449263" algn="l"/>
                <a:tab pos="898525" algn="l"/>
                <a:tab pos="1347788" algn="l"/>
                <a:tab pos="1797050" algn="l"/>
                <a:tab pos="2246313" algn="l"/>
                <a:tab pos="2695575" algn="l"/>
                <a:tab pos="3144838" algn="l"/>
              </a:tabLs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E6A38564-E2D5-C049-BB46-41B46DB703FA}" type="slidenum">
              <a:rPr lang="en-GB" altLang="en-US">
                <a:solidFill>
                  <a:srgbClr val="000000"/>
                </a:solidFill>
                <a:latin typeface="Times New Roman" panose="02020603050405020304" pitchFamily="18" charset="0"/>
              </a:rPr>
              <a:pPr>
                <a:spcBef>
                  <a:spcPct val="0"/>
                </a:spcBef>
              </a:pPr>
              <a:t>18</a:t>
            </a:fld>
            <a:endParaRPr lang="en-GB" altLang="en-US">
              <a:solidFill>
                <a:srgbClr val="000000"/>
              </a:solidFill>
              <a:latin typeface="Times New Roman" panose="02020603050405020304" pitchFamily="18" charset="0"/>
            </a:endParaRPr>
          </a:p>
        </p:txBody>
      </p:sp>
      <p:sp>
        <p:nvSpPr>
          <p:cNvPr id="34819" name="Rectangle 1">
            <a:extLst>
              <a:ext uri="{FF2B5EF4-FFF2-40B4-BE49-F238E27FC236}">
                <a16:creationId xmlns:a16="http://schemas.microsoft.com/office/drawing/2014/main" id="{EE96ED2E-AEDA-21A2-EF66-711DC7E585A1}"/>
              </a:ext>
            </a:extLst>
          </p:cNvPr>
          <p:cNvSpPr>
            <a:spLocks noChangeArrowheads="1" noTextEdit="1"/>
          </p:cNvSpPr>
          <p:nvPr>
            <p:ph type="sldImg"/>
          </p:nvPr>
        </p:nvSpPr>
        <p:spPr>
          <a:xfrm>
            <a:off x="1106488" y="812800"/>
            <a:ext cx="5345112" cy="4008438"/>
          </a:xfrm>
          <a:solidFill>
            <a:srgbClr val="FFFFFF"/>
          </a:solidFill>
          <a:ln/>
        </p:spPr>
      </p:sp>
      <p:sp>
        <p:nvSpPr>
          <p:cNvPr id="34820" name="Rectangle 2">
            <a:extLst>
              <a:ext uri="{FF2B5EF4-FFF2-40B4-BE49-F238E27FC236}">
                <a16:creationId xmlns:a16="http://schemas.microsoft.com/office/drawing/2014/main" id="{431BCF05-DF3D-83B0-7ADD-9C9CC762053E}"/>
              </a:ext>
            </a:extLst>
          </p:cNvPr>
          <p:cNvSpPr>
            <a:spLocks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t>Click to edit Master subtitle style</a:t>
            </a:r>
            <a:endParaRPr lang="en-US"/>
          </a:p>
        </p:txBody>
      </p:sp>
      <p:sp>
        <p:nvSpPr>
          <p:cNvPr id="4" name="Rectangle 4">
            <a:extLst>
              <a:ext uri="{FF2B5EF4-FFF2-40B4-BE49-F238E27FC236}">
                <a16:creationId xmlns:a16="http://schemas.microsoft.com/office/drawing/2014/main" id="{7E93226B-0779-AA6C-EB0B-33F4D9B24E9B}"/>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F598C548-E030-9EFB-9121-B5A3279A0E6C}"/>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65CA4BF1-4B28-771A-7C06-EA4042993AEF}"/>
              </a:ext>
            </a:extLst>
          </p:cNvPr>
          <p:cNvSpPr>
            <a:spLocks noGrp="1" noChangeArrowheads="1"/>
          </p:cNvSpPr>
          <p:nvPr>
            <p:ph type="sldNum" sz="quarter" idx="12"/>
          </p:nvPr>
        </p:nvSpPr>
        <p:spPr>
          <a:ln/>
        </p:spPr>
        <p:txBody>
          <a:bodyPr/>
          <a:lstStyle>
            <a:lvl1pPr>
              <a:defRPr/>
            </a:lvl1pPr>
          </a:lstStyle>
          <a:p>
            <a:fld id="{4CECC09F-2094-9E47-A9AE-9ED14D2359AA}" type="slidenum">
              <a:rPr lang="en-GB" altLang="en-US"/>
              <a:pPr/>
              <a:t>‹#›</a:t>
            </a:fld>
            <a:endParaRPr lang="en-GB" altLang="en-US"/>
          </a:p>
        </p:txBody>
      </p:sp>
    </p:spTree>
    <p:extLst>
      <p:ext uri="{BB962C8B-B14F-4D97-AF65-F5344CB8AC3E}">
        <p14:creationId xmlns:p14="http://schemas.microsoft.com/office/powerpoint/2010/main" val="3521826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4">
            <a:extLst>
              <a:ext uri="{FF2B5EF4-FFF2-40B4-BE49-F238E27FC236}">
                <a16:creationId xmlns:a16="http://schemas.microsoft.com/office/drawing/2014/main" id="{64C9EAF9-F574-B5C6-78C6-625E3B3E92F6}"/>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5038488A-ACF7-4D1D-9D66-0015D43E17D7}"/>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5CF2316C-1987-CAED-11FE-CF7201D3C4A4}"/>
              </a:ext>
            </a:extLst>
          </p:cNvPr>
          <p:cNvSpPr>
            <a:spLocks noGrp="1" noChangeArrowheads="1"/>
          </p:cNvSpPr>
          <p:nvPr>
            <p:ph type="sldNum" sz="quarter" idx="12"/>
          </p:nvPr>
        </p:nvSpPr>
        <p:spPr>
          <a:ln/>
        </p:spPr>
        <p:txBody>
          <a:bodyPr/>
          <a:lstStyle>
            <a:lvl1pPr>
              <a:defRPr/>
            </a:lvl1pPr>
          </a:lstStyle>
          <a:p>
            <a:fld id="{46EA0272-9448-FB47-AE9D-5C1E99F1010C}" type="slidenum">
              <a:rPr lang="en-GB" altLang="en-US"/>
              <a:pPr/>
              <a:t>‹#›</a:t>
            </a:fld>
            <a:endParaRPr lang="en-GB" altLang="en-US"/>
          </a:p>
        </p:txBody>
      </p:sp>
    </p:spTree>
    <p:extLst>
      <p:ext uri="{BB962C8B-B14F-4D97-AF65-F5344CB8AC3E}">
        <p14:creationId xmlns:p14="http://schemas.microsoft.com/office/powerpoint/2010/main" val="1445909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t>Click to edit Master text styles</a:t>
            </a:r>
          </a:p>
        </p:txBody>
      </p:sp>
      <p:sp>
        <p:nvSpPr>
          <p:cNvPr id="4" name="Rectangle 4">
            <a:extLst>
              <a:ext uri="{FF2B5EF4-FFF2-40B4-BE49-F238E27FC236}">
                <a16:creationId xmlns:a16="http://schemas.microsoft.com/office/drawing/2014/main" id="{BAA21712-4A33-8F2D-C257-9E634F0BECC3}"/>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B6FFB822-36FF-F575-9901-F6C55E179215}"/>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479CD88D-744E-AD30-43FE-14DCBB0DC12B}"/>
              </a:ext>
            </a:extLst>
          </p:cNvPr>
          <p:cNvSpPr>
            <a:spLocks noGrp="1" noChangeArrowheads="1"/>
          </p:cNvSpPr>
          <p:nvPr>
            <p:ph type="sldNum" sz="quarter" idx="12"/>
          </p:nvPr>
        </p:nvSpPr>
        <p:spPr>
          <a:ln/>
        </p:spPr>
        <p:txBody>
          <a:bodyPr/>
          <a:lstStyle>
            <a:lvl1pPr>
              <a:defRPr/>
            </a:lvl1pPr>
          </a:lstStyle>
          <a:p>
            <a:fld id="{6A896259-AAE3-F147-B04D-75AC61D3C831}" type="slidenum">
              <a:rPr lang="en-GB" altLang="en-US"/>
              <a:pPr/>
              <a:t>‹#›</a:t>
            </a:fld>
            <a:endParaRPr lang="en-GB" altLang="en-US"/>
          </a:p>
        </p:txBody>
      </p:sp>
    </p:spTree>
    <p:extLst>
      <p:ext uri="{BB962C8B-B14F-4D97-AF65-F5344CB8AC3E}">
        <p14:creationId xmlns:p14="http://schemas.microsoft.com/office/powerpoint/2010/main" val="3430446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3DEF0BC4-D5A0-F324-1B72-4F5849781C4F}"/>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2F4F5C47-814B-081C-E372-5340333AF28E}"/>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777846C6-16B2-91E9-9F92-0850A019D5AF}"/>
              </a:ext>
            </a:extLst>
          </p:cNvPr>
          <p:cNvSpPr>
            <a:spLocks noGrp="1" noChangeArrowheads="1"/>
          </p:cNvSpPr>
          <p:nvPr>
            <p:ph type="sldNum" sz="quarter" idx="12"/>
          </p:nvPr>
        </p:nvSpPr>
        <p:spPr>
          <a:ln/>
        </p:spPr>
        <p:txBody>
          <a:bodyPr/>
          <a:lstStyle>
            <a:lvl1pPr>
              <a:defRPr/>
            </a:lvl1pPr>
          </a:lstStyle>
          <a:p>
            <a:fld id="{0C6FC687-9A63-F441-8DBF-D12E69C8143F}" type="slidenum">
              <a:rPr lang="en-GB" altLang="en-US"/>
              <a:pPr/>
              <a:t>‹#›</a:t>
            </a:fld>
            <a:endParaRPr lang="en-GB" altLang="en-US"/>
          </a:p>
        </p:txBody>
      </p:sp>
    </p:spTree>
    <p:extLst>
      <p:ext uri="{BB962C8B-B14F-4D97-AF65-F5344CB8AC3E}">
        <p14:creationId xmlns:p14="http://schemas.microsoft.com/office/powerpoint/2010/main" val="985132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Rectangle 4">
            <a:extLst>
              <a:ext uri="{FF2B5EF4-FFF2-40B4-BE49-F238E27FC236}">
                <a16:creationId xmlns:a16="http://schemas.microsoft.com/office/drawing/2014/main" id="{89D98C72-3E07-E0A0-9092-F2490B4B5105}"/>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5">
            <a:extLst>
              <a:ext uri="{FF2B5EF4-FFF2-40B4-BE49-F238E27FC236}">
                <a16:creationId xmlns:a16="http://schemas.microsoft.com/office/drawing/2014/main" id="{84E9FE2F-040C-83E0-3DE6-BC1E0305BE18}"/>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6">
            <a:extLst>
              <a:ext uri="{FF2B5EF4-FFF2-40B4-BE49-F238E27FC236}">
                <a16:creationId xmlns:a16="http://schemas.microsoft.com/office/drawing/2014/main" id="{69A83C9F-255E-336E-FA42-66745FCFA1DE}"/>
              </a:ext>
            </a:extLst>
          </p:cNvPr>
          <p:cNvSpPr>
            <a:spLocks noGrp="1" noChangeArrowheads="1"/>
          </p:cNvSpPr>
          <p:nvPr>
            <p:ph type="sldNum" sz="quarter" idx="12"/>
          </p:nvPr>
        </p:nvSpPr>
        <p:spPr>
          <a:ln/>
        </p:spPr>
        <p:txBody>
          <a:bodyPr/>
          <a:lstStyle>
            <a:lvl1pPr>
              <a:defRPr/>
            </a:lvl1pPr>
          </a:lstStyle>
          <a:p>
            <a:fld id="{6E83C5BB-D29B-F942-9A3F-8CA74D6DA4B3}" type="slidenum">
              <a:rPr lang="en-GB" altLang="en-US"/>
              <a:pPr/>
              <a:t>‹#›</a:t>
            </a:fld>
            <a:endParaRPr lang="en-GB" altLang="en-US"/>
          </a:p>
        </p:txBody>
      </p:sp>
    </p:spTree>
    <p:extLst>
      <p:ext uri="{BB962C8B-B14F-4D97-AF65-F5344CB8AC3E}">
        <p14:creationId xmlns:p14="http://schemas.microsoft.com/office/powerpoint/2010/main" val="2477449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Rectangle 4">
            <a:extLst>
              <a:ext uri="{FF2B5EF4-FFF2-40B4-BE49-F238E27FC236}">
                <a16:creationId xmlns:a16="http://schemas.microsoft.com/office/drawing/2014/main" id="{AEAAB8EE-A4AB-444B-FD83-BE17C70BE29C}"/>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A1D40BBB-8BEC-EEA1-2B4F-6A67D60CA739}"/>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6">
            <a:extLst>
              <a:ext uri="{FF2B5EF4-FFF2-40B4-BE49-F238E27FC236}">
                <a16:creationId xmlns:a16="http://schemas.microsoft.com/office/drawing/2014/main" id="{0493526C-BA19-B371-B3A1-B810E7FFC52F}"/>
              </a:ext>
            </a:extLst>
          </p:cNvPr>
          <p:cNvSpPr>
            <a:spLocks noGrp="1" noChangeArrowheads="1"/>
          </p:cNvSpPr>
          <p:nvPr>
            <p:ph type="sldNum" sz="quarter" idx="12"/>
          </p:nvPr>
        </p:nvSpPr>
        <p:spPr>
          <a:ln/>
        </p:spPr>
        <p:txBody>
          <a:bodyPr/>
          <a:lstStyle>
            <a:lvl1pPr>
              <a:defRPr/>
            </a:lvl1pPr>
          </a:lstStyle>
          <a:p>
            <a:fld id="{BD718AD8-0A2A-4E42-8B27-4ED1E74C5D04}" type="slidenum">
              <a:rPr lang="en-GB" altLang="en-US"/>
              <a:pPr/>
              <a:t>‹#›</a:t>
            </a:fld>
            <a:endParaRPr lang="en-GB" altLang="en-US"/>
          </a:p>
        </p:txBody>
      </p:sp>
    </p:spTree>
    <p:extLst>
      <p:ext uri="{BB962C8B-B14F-4D97-AF65-F5344CB8AC3E}">
        <p14:creationId xmlns:p14="http://schemas.microsoft.com/office/powerpoint/2010/main" val="4255235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3CEA111-DE60-C0C9-DCBF-7F7F04EC65C6}"/>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5">
            <a:extLst>
              <a:ext uri="{FF2B5EF4-FFF2-40B4-BE49-F238E27FC236}">
                <a16:creationId xmlns:a16="http://schemas.microsoft.com/office/drawing/2014/main" id="{9DAD45CC-6AD5-CE64-F3D9-465AC9F25D4B}"/>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6">
            <a:extLst>
              <a:ext uri="{FF2B5EF4-FFF2-40B4-BE49-F238E27FC236}">
                <a16:creationId xmlns:a16="http://schemas.microsoft.com/office/drawing/2014/main" id="{146739C2-6A5A-A610-B503-1AA2EB7FEB2C}"/>
              </a:ext>
            </a:extLst>
          </p:cNvPr>
          <p:cNvSpPr>
            <a:spLocks noGrp="1" noChangeArrowheads="1"/>
          </p:cNvSpPr>
          <p:nvPr>
            <p:ph type="sldNum" sz="quarter" idx="12"/>
          </p:nvPr>
        </p:nvSpPr>
        <p:spPr>
          <a:ln/>
        </p:spPr>
        <p:txBody>
          <a:bodyPr/>
          <a:lstStyle>
            <a:lvl1pPr>
              <a:defRPr/>
            </a:lvl1pPr>
          </a:lstStyle>
          <a:p>
            <a:fld id="{307BA1E6-F2FA-B248-B714-6ACF66DD7E4E}" type="slidenum">
              <a:rPr lang="en-GB" altLang="en-US"/>
              <a:pPr/>
              <a:t>‹#›</a:t>
            </a:fld>
            <a:endParaRPr lang="en-GB" altLang="en-US"/>
          </a:p>
        </p:txBody>
      </p:sp>
    </p:spTree>
    <p:extLst>
      <p:ext uri="{BB962C8B-B14F-4D97-AF65-F5344CB8AC3E}">
        <p14:creationId xmlns:p14="http://schemas.microsoft.com/office/powerpoint/2010/main" val="3097360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Rectangle 4">
            <a:extLst>
              <a:ext uri="{FF2B5EF4-FFF2-40B4-BE49-F238E27FC236}">
                <a16:creationId xmlns:a16="http://schemas.microsoft.com/office/drawing/2014/main" id="{23C06771-EB00-711A-3A05-4A27D505BC89}"/>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028E3FB3-3B98-62E0-0AC6-05CE82029BDB}"/>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8A04D0B7-A166-377B-5E51-FE2FF1FACA50}"/>
              </a:ext>
            </a:extLst>
          </p:cNvPr>
          <p:cNvSpPr>
            <a:spLocks noGrp="1" noChangeArrowheads="1"/>
          </p:cNvSpPr>
          <p:nvPr>
            <p:ph type="sldNum" sz="quarter" idx="12"/>
          </p:nvPr>
        </p:nvSpPr>
        <p:spPr>
          <a:ln/>
        </p:spPr>
        <p:txBody>
          <a:bodyPr/>
          <a:lstStyle>
            <a:lvl1pPr>
              <a:defRPr/>
            </a:lvl1pPr>
          </a:lstStyle>
          <a:p>
            <a:fld id="{F3898AC2-111B-8F45-A17B-D3A509398C0D}" type="slidenum">
              <a:rPr lang="en-GB" altLang="en-US"/>
              <a:pPr/>
              <a:t>‹#›</a:t>
            </a:fld>
            <a:endParaRPr lang="en-GB" altLang="en-US"/>
          </a:p>
        </p:txBody>
      </p:sp>
    </p:spTree>
    <p:extLst>
      <p:ext uri="{BB962C8B-B14F-4D97-AF65-F5344CB8AC3E}">
        <p14:creationId xmlns:p14="http://schemas.microsoft.com/office/powerpoint/2010/main" val="1236970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Rectangle 4">
            <a:extLst>
              <a:ext uri="{FF2B5EF4-FFF2-40B4-BE49-F238E27FC236}">
                <a16:creationId xmlns:a16="http://schemas.microsoft.com/office/drawing/2014/main" id="{C2CB40E6-F911-FD47-9E28-735D63684CC6}"/>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019AC539-E994-F170-01E5-23333D9DC13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B382296D-3AF7-6FEC-FCD5-8ACA4ACEA832}"/>
              </a:ext>
            </a:extLst>
          </p:cNvPr>
          <p:cNvSpPr>
            <a:spLocks noGrp="1" noChangeArrowheads="1"/>
          </p:cNvSpPr>
          <p:nvPr>
            <p:ph type="sldNum" sz="quarter" idx="12"/>
          </p:nvPr>
        </p:nvSpPr>
        <p:spPr>
          <a:ln/>
        </p:spPr>
        <p:txBody>
          <a:bodyPr/>
          <a:lstStyle>
            <a:lvl1pPr>
              <a:defRPr/>
            </a:lvl1pPr>
          </a:lstStyle>
          <a:p>
            <a:fld id="{3E16E703-B4D6-5E4F-AD69-BF57706EAF9C}" type="slidenum">
              <a:rPr lang="en-GB" altLang="en-US"/>
              <a:pPr/>
              <a:t>‹#›</a:t>
            </a:fld>
            <a:endParaRPr lang="en-GB" altLang="en-US"/>
          </a:p>
        </p:txBody>
      </p:sp>
    </p:spTree>
    <p:extLst>
      <p:ext uri="{BB962C8B-B14F-4D97-AF65-F5344CB8AC3E}">
        <p14:creationId xmlns:p14="http://schemas.microsoft.com/office/powerpoint/2010/main" val="460172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4">
            <a:extLst>
              <a:ext uri="{FF2B5EF4-FFF2-40B4-BE49-F238E27FC236}">
                <a16:creationId xmlns:a16="http://schemas.microsoft.com/office/drawing/2014/main" id="{F4939BF7-26F7-E78E-705B-69394376CC5B}"/>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26458B68-AEB6-A7C6-0C61-A4AE7D01D523}"/>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0D2D252B-111D-9101-3608-1EF811AF11DA}"/>
              </a:ext>
            </a:extLst>
          </p:cNvPr>
          <p:cNvSpPr>
            <a:spLocks noGrp="1" noChangeArrowheads="1"/>
          </p:cNvSpPr>
          <p:nvPr>
            <p:ph type="sldNum" sz="quarter" idx="12"/>
          </p:nvPr>
        </p:nvSpPr>
        <p:spPr>
          <a:ln/>
        </p:spPr>
        <p:txBody>
          <a:bodyPr/>
          <a:lstStyle>
            <a:lvl1pPr>
              <a:defRPr/>
            </a:lvl1pPr>
          </a:lstStyle>
          <a:p>
            <a:fld id="{1BEB4001-863A-A447-8E62-1AAF0BB9F8D1}" type="slidenum">
              <a:rPr lang="en-GB" altLang="en-US"/>
              <a:pPr/>
              <a:t>‹#›</a:t>
            </a:fld>
            <a:endParaRPr lang="en-GB" altLang="en-US"/>
          </a:p>
        </p:txBody>
      </p:sp>
    </p:spTree>
    <p:extLst>
      <p:ext uri="{BB962C8B-B14F-4D97-AF65-F5344CB8AC3E}">
        <p14:creationId xmlns:p14="http://schemas.microsoft.com/office/powerpoint/2010/main" val="735931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4">
            <a:extLst>
              <a:ext uri="{FF2B5EF4-FFF2-40B4-BE49-F238E27FC236}">
                <a16:creationId xmlns:a16="http://schemas.microsoft.com/office/drawing/2014/main" id="{123C8EE4-36AA-0266-9107-44B0DDB123BA}"/>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92585C73-CDA4-D0FB-E658-B787424147C3}"/>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7DE05669-4355-7DC2-A473-9B6E4FF0B1B0}"/>
              </a:ext>
            </a:extLst>
          </p:cNvPr>
          <p:cNvSpPr>
            <a:spLocks noGrp="1" noChangeArrowheads="1"/>
          </p:cNvSpPr>
          <p:nvPr>
            <p:ph type="sldNum" sz="quarter" idx="12"/>
          </p:nvPr>
        </p:nvSpPr>
        <p:spPr>
          <a:ln/>
        </p:spPr>
        <p:txBody>
          <a:bodyPr/>
          <a:lstStyle>
            <a:lvl1pPr>
              <a:defRPr/>
            </a:lvl1pPr>
          </a:lstStyle>
          <a:p>
            <a:fld id="{C39468CE-4FFA-2A42-801C-6DD42A72D87F}" type="slidenum">
              <a:rPr lang="en-GB" altLang="en-US"/>
              <a:pPr/>
              <a:t>‹#›</a:t>
            </a:fld>
            <a:endParaRPr lang="en-GB" altLang="en-US"/>
          </a:p>
        </p:txBody>
      </p:sp>
    </p:spTree>
    <p:extLst>
      <p:ext uri="{BB962C8B-B14F-4D97-AF65-F5344CB8AC3E}">
        <p14:creationId xmlns:p14="http://schemas.microsoft.com/office/powerpoint/2010/main" val="1612719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4"/>
          <p:cNvSpPr>
            <a:spLocks noGrp="1"/>
          </p:cNvSpPr>
          <p:nvPr>
            <p:ph sz="quarter" idx="3"/>
          </p:nvPr>
        </p:nvSpPr>
        <p:spPr>
          <a:xfrm>
            <a:off x="4648200" y="3938588"/>
            <a:ext cx="4038600" cy="21875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Rectangle 4">
            <a:extLst>
              <a:ext uri="{FF2B5EF4-FFF2-40B4-BE49-F238E27FC236}">
                <a16:creationId xmlns:a16="http://schemas.microsoft.com/office/drawing/2014/main" id="{9146FCF1-4360-2B2F-3744-4CBFD132C5D1}"/>
              </a:ext>
            </a:extLst>
          </p:cNvPr>
          <p:cNvSpPr>
            <a:spLocks noGrp="1" noChangeArrowheads="1"/>
          </p:cNvSpPr>
          <p:nvPr>
            <p:ph type="dt" sz="half" idx="10"/>
          </p:nvPr>
        </p:nvSpPr>
        <p:spPr>
          <a:ln/>
        </p:spPr>
        <p:txBody>
          <a:bodyPr/>
          <a:lstStyle>
            <a:lvl1pPr>
              <a:defRPr/>
            </a:lvl1pPr>
          </a:lstStyle>
          <a:p>
            <a:pPr>
              <a:defRPr/>
            </a:pPr>
            <a:endParaRPr lang="en-GB"/>
          </a:p>
        </p:txBody>
      </p:sp>
      <p:sp>
        <p:nvSpPr>
          <p:cNvPr id="7" name="Rectangle 5">
            <a:extLst>
              <a:ext uri="{FF2B5EF4-FFF2-40B4-BE49-F238E27FC236}">
                <a16:creationId xmlns:a16="http://schemas.microsoft.com/office/drawing/2014/main" id="{DDDDC7A0-3BDF-0BAA-C18B-7A8C26400CE1}"/>
              </a:ext>
            </a:extLst>
          </p:cNvPr>
          <p:cNvSpPr>
            <a:spLocks noGrp="1" noChangeArrowheads="1"/>
          </p:cNvSpPr>
          <p:nvPr>
            <p:ph type="ftr" sz="quarter" idx="11"/>
          </p:nvPr>
        </p:nvSpPr>
        <p:spPr>
          <a:ln/>
        </p:spPr>
        <p:txBody>
          <a:bodyPr/>
          <a:lstStyle>
            <a:lvl1pPr>
              <a:defRPr/>
            </a:lvl1pPr>
          </a:lstStyle>
          <a:p>
            <a:pPr>
              <a:defRPr/>
            </a:pPr>
            <a:endParaRPr lang="en-GB"/>
          </a:p>
        </p:txBody>
      </p:sp>
      <p:sp>
        <p:nvSpPr>
          <p:cNvPr id="8" name="Rectangle 6">
            <a:extLst>
              <a:ext uri="{FF2B5EF4-FFF2-40B4-BE49-F238E27FC236}">
                <a16:creationId xmlns:a16="http://schemas.microsoft.com/office/drawing/2014/main" id="{1469977F-B6ED-0942-7256-F88DFBB4E0A2}"/>
              </a:ext>
            </a:extLst>
          </p:cNvPr>
          <p:cNvSpPr>
            <a:spLocks noGrp="1" noChangeArrowheads="1"/>
          </p:cNvSpPr>
          <p:nvPr>
            <p:ph type="sldNum" sz="quarter" idx="12"/>
          </p:nvPr>
        </p:nvSpPr>
        <p:spPr>
          <a:ln/>
        </p:spPr>
        <p:txBody>
          <a:bodyPr/>
          <a:lstStyle>
            <a:lvl1pPr>
              <a:defRPr/>
            </a:lvl1pPr>
          </a:lstStyle>
          <a:p>
            <a:fld id="{172794C4-44AF-6C48-8D5A-4EC79BAFDD1C}" type="slidenum">
              <a:rPr lang="en-GB" altLang="en-US"/>
              <a:pPr/>
              <a:t>‹#›</a:t>
            </a:fld>
            <a:endParaRPr lang="en-GB" altLang="en-US"/>
          </a:p>
        </p:txBody>
      </p:sp>
    </p:spTree>
    <p:extLst>
      <p:ext uri="{BB962C8B-B14F-4D97-AF65-F5344CB8AC3E}">
        <p14:creationId xmlns:p14="http://schemas.microsoft.com/office/powerpoint/2010/main" val="650066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E5CE9D6-4A17-A725-168A-D907E466D5C9}"/>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2131453B-47F4-FF2D-15FF-01CE5027D7BB}"/>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a:extLst>
              <a:ext uri="{FF2B5EF4-FFF2-40B4-BE49-F238E27FC236}">
                <a16:creationId xmlns:a16="http://schemas.microsoft.com/office/drawing/2014/main" id="{2BD7CBAE-B13A-DC42-AAA3-4002D16C00F3}"/>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0"/>
                <a:cs typeface="+mn-cs"/>
              </a:defRPr>
            </a:lvl1pPr>
          </a:lstStyle>
          <a:p>
            <a:pPr>
              <a:defRPr/>
            </a:pPr>
            <a:endParaRPr lang="en-GB"/>
          </a:p>
        </p:txBody>
      </p:sp>
      <p:sp>
        <p:nvSpPr>
          <p:cNvPr id="1029" name="Rectangle 5">
            <a:extLst>
              <a:ext uri="{FF2B5EF4-FFF2-40B4-BE49-F238E27FC236}">
                <a16:creationId xmlns:a16="http://schemas.microsoft.com/office/drawing/2014/main" id="{C6ED5414-2F89-0045-81CE-BD8E17A46B86}"/>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0"/>
                <a:cs typeface="+mn-cs"/>
              </a:defRPr>
            </a:lvl1pPr>
          </a:lstStyle>
          <a:p>
            <a:pPr>
              <a:defRPr/>
            </a:pPr>
            <a:endParaRPr lang="en-GB"/>
          </a:p>
        </p:txBody>
      </p:sp>
      <p:sp>
        <p:nvSpPr>
          <p:cNvPr id="1030" name="Rectangle 6">
            <a:extLst>
              <a:ext uri="{FF2B5EF4-FFF2-40B4-BE49-F238E27FC236}">
                <a16:creationId xmlns:a16="http://schemas.microsoft.com/office/drawing/2014/main" id="{5A5273D4-A9CC-A74F-AB2C-E362F52FC7A0}"/>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algn="r" eaLnBrk="1" hangingPunct="1">
              <a:defRPr sz="1400"/>
            </a:lvl1pPr>
          </a:lstStyle>
          <a:p>
            <a:fld id="{18203FED-3CAE-8645-927F-080A978D503B}"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ea typeface="ＭＳ Ｐゴシック" charset="0"/>
        </a:defRPr>
      </a:lvl6pPr>
      <a:lvl7pPr marL="914400" algn="ctr" rtl="0" fontAlgn="base">
        <a:spcBef>
          <a:spcPct val="0"/>
        </a:spcBef>
        <a:spcAft>
          <a:spcPct val="0"/>
        </a:spcAft>
        <a:defRPr sz="4400">
          <a:solidFill>
            <a:schemeClr val="tx2"/>
          </a:solidFill>
          <a:latin typeface="Arial" charset="0"/>
          <a:ea typeface="ＭＳ Ｐゴシック" charset="0"/>
        </a:defRPr>
      </a:lvl7pPr>
      <a:lvl8pPr marL="1371600" algn="ctr" rtl="0" fontAlgn="base">
        <a:spcBef>
          <a:spcPct val="0"/>
        </a:spcBef>
        <a:spcAft>
          <a:spcPct val="0"/>
        </a:spcAft>
        <a:defRPr sz="4400">
          <a:solidFill>
            <a:schemeClr val="tx2"/>
          </a:solidFill>
          <a:latin typeface="Arial" charset="0"/>
          <a:ea typeface="ＭＳ Ｐゴシック" charset="0"/>
        </a:defRPr>
      </a:lvl8pPr>
      <a:lvl9pPr marL="1828800" algn="ctr" rtl="0" fontAlgn="base">
        <a:spcBef>
          <a:spcPct val="0"/>
        </a:spcBef>
        <a:spcAft>
          <a:spcPct val="0"/>
        </a:spcAft>
        <a:defRPr sz="4400">
          <a:solidFill>
            <a:schemeClr val="tx2"/>
          </a:solidFill>
          <a:latin typeface="Arial" charset="0"/>
          <a:ea typeface="ＭＳ Ｐゴシック"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mailto:avhkl@130.88.66.5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0015752-6932-F240-9BD7-5CD28213143F}"/>
              </a:ext>
            </a:extLst>
          </p:cNvPr>
          <p:cNvSpPr>
            <a:spLocks noGrp="1" noChangeArrowheads="1"/>
          </p:cNvSpPr>
          <p:nvPr>
            <p:ph type="ctrTitle"/>
          </p:nvPr>
        </p:nvSpPr>
        <p:spPr>
          <a:xfrm>
            <a:off x="0" y="1916113"/>
            <a:ext cx="9144000" cy="1755775"/>
          </a:xfrm>
          <a:solidFill>
            <a:srgbClr val="0000FF"/>
          </a:solidFill>
        </p:spPr>
        <p:txBody>
          <a:bodyPr/>
          <a:lstStyle/>
          <a:p>
            <a:pPr eaLnBrk="1" hangingPunct="1">
              <a:defRPr/>
            </a:pPr>
            <a:r>
              <a:rPr lang="en-GB" sz="3200" dirty="0">
                <a:solidFill>
                  <a:schemeClr val="bg1"/>
                </a:solidFill>
                <a:cs typeface="+mj-cs"/>
              </a:rPr>
              <a:t>Week 3: Box and </a:t>
            </a:r>
            <a:r>
              <a:rPr lang="en-GB" sz="3200" b="1" u="sng" dirty="0">
                <a:solidFill>
                  <a:schemeClr val="bg1"/>
                </a:solidFill>
                <a:cs typeface="+mj-cs"/>
              </a:rPr>
              <a:t>Parcel Models </a:t>
            </a:r>
            <a:br>
              <a:rPr lang="en-GB" sz="3200" dirty="0">
                <a:solidFill>
                  <a:schemeClr val="bg1"/>
                </a:solidFill>
                <a:cs typeface="+mj-cs"/>
              </a:rPr>
            </a:br>
            <a:r>
              <a:rPr lang="en-GB" sz="3200" dirty="0">
                <a:solidFill>
                  <a:schemeClr val="bg1"/>
                </a:solidFill>
                <a:cs typeface="+mj-cs"/>
              </a:rPr>
              <a:t>in Atmospheric Science</a:t>
            </a:r>
          </a:p>
        </p:txBody>
      </p:sp>
      <p:sp>
        <p:nvSpPr>
          <p:cNvPr id="2051" name="Rectangle 3">
            <a:extLst>
              <a:ext uri="{FF2B5EF4-FFF2-40B4-BE49-F238E27FC236}">
                <a16:creationId xmlns:a16="http://schemas.microsoft.com/office/drawing/2014/main" id="{81A9C8CB-6360-9548-8761-FAD0406B6DAF}"/>
              </a:ext>
            </a:extLst>
          </p:cNvPr>
          <p:cNvSpPr>
            <a:spLocks noGrp="1" noChangeArrowheads="1"/>
          </p:cNvSpPr>
          <p:nvPr>
            <p:ph type="subTitle" idx="1"/>
          </p:nvPr>
        </p:nvSpPr>
        <p:spPr>
          <a:xfrm>
            <a:off x="1403350" y="5084763"/>
            <a:ext cx="6400800" cy="1320800"/>
          </a:xfrm>
        </p:spPr>
        <p:txBody>
          <a:bodyPr/>
          <a:lstStyle/>
          <a:p>
            <a:pPr eaLnBrk="1" hangingPunct="1">
              <a:defRPr/>
            </a:pPr>
            <a:r>
              <a:rPr lang="en-GB" dirty="0" err="1">
                <a:cs typeface="+mn-cs"/>
              </a:rPr>
              <a:t>Prof.</a:t>
            </a:r>
            <a:r>
              <a:rPr lang="en-GB" dirty="0">
                <a:cs typeface="+mn-cs"/>
              </a:rPr>
              <a:t> Paul Connolly</a:t>
            </a:r>
          </a:p>
          <a:p>
            <a:pPr eaLnBrk="1" hangingPunct="1">
              <a:defRPr/>
            </a:pPr>
            <a:r>
              <a:rPr lang="en-GB" dirty="0">
                <a:cs typeface="+mn-cs"/>
              </a:rPr>
              <a:t>Centre for Atmospheric Science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5535681-3FC9-F44E-A527-CBB4154CD08A}"/>
              </a:ext>
            </a:extLst>
          </p:cNvPr>
          <p:cNvSpPr>
            <a:spLocks noGrp="1" noChangeArrowheads="1"/>
          </p:cNvSpPr>
          <p:nvPr>
            <p:ph type="title"/>
          </p:nvPr>
        </p:nvSpPr>
        <p:spPr>
          <a:xfrm>
            <a:off x="0" y="0"/>
            <a:ext cx="9144000" cy="1143000"/>
          </a:xfrm>
          <a:solidFill>
            <a:srgbClr val="0000FF"/>
          </a:solidFill>
        </p:spPr>
        <p:txBody>
          <a:bodyPr/>
          <a:lstStyle/>
          <a:p>
            <a:pPr eaLnBrk="1" hangingPunct="1">
              <a:defRPr/>
            </a:pPr>
            <a:r>
              <a:rPr lang="en-GB" dirty="0">
                <a:solidFill>
                  <a:srgbClr val="FFFFFF"/>
                </a:solidFill>
                <a:cs typeface="+mj-cs"/>
              </a:rPr>
              <a:t>Contents</a:t>
            </a:r>
          </a:p>
        </p:txBody>
      </p:sp>
      <p:sp>
        <p:nvSpPr>
          <p:cNvPr id="19459" name="Rectangle 3">
            <a:extLst>
              <a:ext uri="{FF2B5EF4-FFF2-40B4-BE49-F238E27FC236}">
                <a16:creationId xmlns:a16="http://schemas.microsoft.com/office/drawing/2014/main" id="{8A250CBE-CFC1-D947-ABD2-3AA4840EEAE1}"/>
              </a:ext>
            </a:extLst>
          </p:cNvPr>
          <p:cNvSpPr>
            <a:spLocks noGrp="1" noChangeArrowheads="1"/>
          </p:cNvSpPr>
          <p:nvPr>
            <p:ph type="body" idx="1"/>
          </p:nvPr>
        </p:nvSpPr>
        <p:spPr/>
        <p:txBody>
          <a:bodyPr/>
          <a:lstStyle/>
          <a:p>
            <a:pPr eaLnBrk="1" hangingPunct="1">
              <a:lnSpc>
                <a:spcPct val="80000"/>
              </a:lnSpc>
              <a:defRPr/>
            </a:pPr>
            <a:r>
              <a:rPr lang="en-GB" altLang="en-US" sz="1800" b="1" dirty="0"/>
              <a:t>Parcel Models</a:t>
            </a:r>
          </a:p>
          <a:p>
            <a:pPr lvl="1" eaLnBrk="1" hangingPunct="1">
              <a:lnSpc>
                <a:spcPct val="80000"/>
              </a:lnSpc>
              <a:defRPr/>
            </a:pPr>
            <a:r>
              <a:rPr lang="en-GB" altLang="en-US" sz="1400" b="1" dirty="0"/>
              <a:t>Assumption</a:t>
            </a:r>
          </a:p>
          <a:p>
            <a:pPr lvl="1" eaLnBrk="1" hangingPunct="1">
              <a:lnSpc>
                <a:spcPct val="80000"/>
              </a:lnSpc>
              <a:defRPr/>
            </a:pPr>
            <a:r>
              <a:rPr lang="en-GB" altLang="en-US" sz="1400" b="1" dirty="0"/>
              <a:t>Theory</a:t>
            </a:r>
          </a:p>
          <a:p>
            <a:pPr lvl="1" eaLnBrk="1" hangingPunct="1">
              <a:lnSpc>
                <a:spcPct val="80000"/>
              </a:lnSpc>
              <a:defRPr/>
            </a:pPr>
            <a:r>
              <a:rPr lang="en-GB" altLang="en-US" sz="1400" b="1" dirty="0"/>
              <a:t>1</a:t>
            </a:r>
            <a:r>
              <a:rPr lang="en-GB" altLang="en-US" sz="1400" b="1" baseline="30000" dirty="0"/>
              <a:t>st</a:t>
            </a:r>
            <a:r>
              <a:rPr lang="en-GB" altLang="en-US" sz="1400" b="1" dirty="0"/>
              <a:t> indirect effect of aerosols on clouds</a:t>
            </a:r>
            <a:endParaRPr lang="en-GB" altLang="en-US" sz="1800" b="1" dirty="0"/>
          </a:p>
          <a:p>
            <a:pPr eaLnBrk="1" hangingPunct="1">
              <a:lnSpc>
                <a:spcPct val="80000"/>
              </a:lnSpc>
              <a:defRPr/>
            </a:pPr>
            <a:r>
              <a:rPr lang="en-GB" altLang="en-US" sz="1800" b="1" dirty="0"/>
              <a:t>Geoengineering Scheme: Marine Cloud Brightening</a:t>
            </a:r>
          </a:p>
          <a:p>
            <a:pPr eaLnBrk="1" hangingPunct="1">
              <a:lnSpc>
                <a:spcPct val="80000"/>
              </a:lnSpc>
              <a:defRPr/>
            </a:pPr>
            <a:endParaRPr lang="en-GB" altLang="en-US" sz="1800" b="1" dirty="0"/>
          </a:p>
          <a:p>
            <a:pPr eaLnBrk="1" hangingPunct="1">
              <a:lnSpc>
                <a:spcPct val="80000"/>
              </a:lnSpc>
              <a:defRPr/>
            </a:pPr>
            <a:r>
              <a:rPr lang="en-GB" altLang="en-US" sz="1800" b="1" dirty="0"/>
              <a:t>Aerosol Particles</a:t>
            </a:r>
          </a:p>
          <a:p>
            <a:pPr lvl="1" eaLnBrk="1" hangingPunct="1">
              <a:lnSpc>
                <a:spcPct val="80000"/>
              </a:lnSpc>
              <a:defRPr/>
            </a:pPr>
            <a:r>
              <a:rPr lang="en-GB" altLang="en-US" sz="1400" b="1" dirty="0"/>
              <a:t>Kelvin Effect</a:t>
            </a:r>
          </a:p>
          <a:p>
            <a:pPr lvl="1" eaLnBrk="1" hangingPunct="1">
              <a:lnSpc>
                <a:spcPct val="80000"/>
              </a:lnSpc>
              <a:defRPr/>
            </a:pPr>
            <a:r>
              <a:rPr lang="en-GB" altLang="en-US" sz="1400" b="1" dirty="0"/>
              <a:t>Droplet growth from water vapour</a:t>
            </a:r>
          </a:p>
          <a:p>
            <a:pPr lvl="1" eaLnBrk="1" hangingPunct="1">
              <a:lnSpc>
                <a:spcPct val="80000"/>
              </a:lnSpc>
              <a:defRPr/>
            </a:pPr>
            <a:r>
              <a:rPr lang="en-GB" altLang="en-US" sz="1400" b="1" dirty="0"/>
              <a:t>Bin / Sectional assumption</a:t>
            </a:r>
          </a:p>
          <a:p>
            <a:pPr lvl="1" eaLnBrk="1" hangingPunct="1">
              <a:lnSpc>
                <a:spcPct val="80000"/>
              </a:lnSpc>
              <a:defRPr/>
            </a:pPr>
            <a:r>
              <a:rPr lang="en-GB" altLang="en-US" sz="1400" b="1" dirty="0"/>
              <a:t>Initialisation: aerosol ‘modes’ / size distributions</a:t>
            </a:r>
            <a:endParaRPr lang="en-GB" altLang="en-US" sz="1800" b="1" dirty="0"/>
          </a:p>
          <a:p>
            <a:pPr eaLnBrk="1" hangingPunct="1">
              <a:lnSpc>
                <a:spcPct val="80000"/>
              </a:lnSpc>
              <a:defRPr/>
            </a:pPr>
            <a:endParaRPr lang="en-GB" altLang="en-US" sz="1800" b="1" dirty="0"/>
          </a:p>
          <a:p>
            <a:pPr eaLnBrk="1" hangingPunct="1">
              <a:lnSpc>
                <a:spcPct val="80000"/>
              </a:lnSpc>
              <a:defRPr/>
            </a:pPr>
            <a:r>
              <a:rPr lang="en-GB" altLang="en-US" sz="1800" b="1" dirty="0"/>
              <a:t>System of Equations to solve</a:t>
            </a:r>
          </a:p>
          <a:p>
            <a:pPr eaLnBrk="1" hangingPunct="1">
              <a:lnSpc>
                <a:spcPct val="80000"/>
              </a:lnSpc>
              <a:defRPr/>
            </a:pPr>
            <a:endParaRPr lang="en-GB" altLang="en-US" sz="1800" b="1" dirty="0"/>
          </a:p>
          <a:p>
            <a:pPr eaLnBrk="1" hangingPunct="1">
              <a:lnSpc>
                <a:spcPct val="80000"/>
              </a:lnSpc>
              <a:defRPr/>
            </a:pPr>
            <a:r>
              <a:rPr lang="en-GB" altLang="en-US" sz="1800" b="1" dirty="0"/>
              <a:t>Time permitting</a:t>
            </a:r>
          </a:p>
          <a:p>
            <a:pPr lvl="1" eaLnBrk="1" hangingPunct="1">
              <a:lnSpc>
                <a:spcPct val="80000"/>
              </a:lnSpc>
              <a:defRPr/>
            </a:pPr>
            <a:r>
              <a:rPr lang="en-GB" altLang="en-US" sz="1800" b="1"/>
              <a:t>Run </a:t>
            </a:r>
            <a:r>
              <a:rPr lang="en-GB" altLang="en-US" sz="1800" b="1" dirty="0"/>
              <a:t>compiled code to solve system </a:t>
            </a:r>
            <a:r>
              <a:rPr lang="en-GB" altLang="en-US" sz="1800" b="1"/>
              <a:t>of ODEs </a:t>
            </a:r>
            <a:endParaRPr lang="en-GB" altLang="en-US" sz="1800" b="1" dirty="0"/>
          </a:p>
          <a:p>
            <a:pPr lvl="1" eaLnBrk="1" hangingPunct="1">
              <a:lnSpc>
                <a:spcPct val="80000"/>
              </a:lnSpc>
              <a:defRPr/>
            </a:pPr>
            <a:r>
              <a:rPr lang="en-GB" altLang="en-US" sz="1800" b="1" dirty="0"/>
              <a:t>Look at model output for different initial conditions</a:t>
            </a:r>
          </a:p>
          <a:p>
            <a:pPr eaLnBrk="1" hangingPunct="1">
              <a:lnSpc>
                <a:spcPct val="80000"/>
              </a:lnSpc>
              <a:defRPr/>
            </a:pPr>
            <a:endParaRPr lang="en-GB" altLang="en-US" sz="1800" b="1" dirty="0"/>
          </a:p>
          <a:p>
            <a:pPr marL="0" indent="0" eaLnBrk="1" hangingPunct="1">
              <a:lnSpc>
                <a:spcPct val="80000"/>
              </a:lnSpc>
              <a:buFontTx/>
              <a:buNone/>
              <a:defRPr/>
            </a:pPr>
            <a:endParaRPr lang="en-GB" altLang="en-US"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3">
            <a:extLst>
              <a:ext uri="{FF2B5EF4-FFF2-40B4-BE49-F238E27FC236}">
                <a16:creationId xmlns:a16="http://schemas.microsoft.com/office/drawing/2014/main" id="{D32825D7-8947-35EA-8465-1B3F89A3B54F}"/>
              </a:ext>
            </a:extLst>
          </p:cNvPr>
          <p:cNvSpPr>
            <a:spLocks noGrp="1" noChangeArrowheads="1"/>
          </p:cNvSpPr>
          <p:nvPr>
            <p:ph type="title"/>
          </p:nvPr>
        </p:nvSpPr>
        <p:spPr>
          <a:xfrm>
            <a:off x="0" y="0"/>
            <a:ext cx="9144000" cy="908050"/>
          </a:xfrm>
          <a:solidFill>
            <a:srgbClr val="FFC000"/>
          </a:solidFill>
        </p:spPr>
        <p:txBody>
          <a:bodyPr/>
          <a:lstStyle/>
          <a:p>
            <a:r>
              <a:rPr lang="en-US" altLang="en-US" sz="3200" dirty="0">
                <a:solidFill>
                  <a:schemeClr val="bg1"/>
                </a:solidFill>
              </a:rPr>
              <a:t>Parcel Models</a:t>
            </a:r>
          </a:p>
        </p:txBody>
      </p:sp>
      <p:sp>
        <p:nvSpPr>
          <p:cNvPr id="18434" name="Content Placeholder 5">
            <a:extLst>
              <a:ext uri="{FF2B5EF4-FFF2-40B4-BE49-F238E27FC236}">
                <a16:creationId xmlns:a16="http://schemas.microsoft.com/office/drawing/2014/main" id="{75D86103-7288-B2E0-C577-3A426013C9AD}"/>
              </a:ext>
            </a:extLst>
          </p:cNvPr>
          <p:cNvSpPr>
            <a:spLocks noGrp="1" noChangeArrowheads="1"/>
          </p:cNvSpPr>
          <p:nvPr>
            <p:ph idx="1"/>
          </p:nvPr>
        </p:nvSpPr>
        <p:spPr>
          <a:xfrm>
            <a:off x="5364163" y="1052513"/>
            <a:ext cx="3671887" cy="5073650"/>
          </a:xfrm>
        </p:spPr>
        <p:txBody>
          <a:bodyPr/>
          <a:lstStyle/>
          <a:p>
            <a:r>
              <a:rPr lang="en-US" altLang="en-US" sz="2000"/>
              <a:t>A parcel model simulates the properties of air along a path</a:t>
            </a:r>
          </a:p>
          <a:p>
            <a:r>
              <a:rPr lang="en-US" altLang="en-US" sz="2000"/>
              <a:t>1</a:t>
            </a:r>
            <a:r>
              <a:rPr lang="en-US" altLang="en-US" sz="2000" baseline="30000"/>
              <a:t>st</a:t>
            </a:r>
            <a:r>
              <a:rPr lang="en-US" altLang="en-US" sz="2000"/>
              <a:t> order Ordinary Differential Equations govern the rates of change of properties of air inside the parcel</a:t>
            </a:r>
          </a:p>
          <a:p>
            <a:r>
              <a:rPr lang="en-US" altLang="en-US" sz="2000"/>
              <a:t>If we assume that no exchange of heat occurs between the environment and the parcel, we call it ‘adiabatic’.</a:t>
            </a:r>
          </a:p>
          <a:p>
            <a:r>
              <a:rPr lang="en-US" altLang="en-US" sz="2000"/>
              <a:t>We assume that the properties of atmosphere at a given height is the same as the properties in the parcel at the same height</a:t>
            </a:r>
          </a:p>
        </p:txBody>
      </p:sp>
      <p:pic>
        <p:nvPicPr>
          <p:cNvPr id="18435" name="Picture 4">
            <a:extLst>
              <a:ext uri="{FF2B5EF4-FFF2-40B4-BE49-F238E27FC236}">
                <a16:creationId xmlns:a16="http://schemas.microsoft.com/office/drawing/2014/main" id="{93562C63-ED14-FFF1-BE24-0F4398A400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8" y="1268413"/>
            <a:ext cx="5164137" cy="479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17" descr="press0001">
            <a:extLst>
              <a:ext uri="{FF2B5EF4-FFF2-40B4-BE49-F238E27FC236}">
                <a16:creationId xmlns:a16="http://schemas.microsoft.com/office/drawing/2014/main" id="{B5CA0D2F-3A5D-8BF8-9F15-FFD6DCB89F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663" y="720725"/>
            <a:ext cx="7604125" cy="636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8" name="Rectangle 2">
            <a:extLst>
              <a:ext uri="{FF2B5EF4-FFF2-40B4-BE49-F238E27FC236}">
                <a16:creationId xmlns:a16="http://schemas.microsoft.com/office/drawing/2014/main" id="{899FD687-9E5D-3050-9FED-CBEC85EE021B}"/>
              </a:ext>
            </a:extLst>
          </p:cNvPr>
          <p:cNvSpPr>
            <a:spLocks noGrp="1" noChangeArrowheads="1"/>
          </p:cNvSpPr>
          <p:nvPr>
            <p:ph type="title"/>
          </p:nvPr>
        </p:nvSpPr>
        <p:spPr>
          <a:xfrm>
            <a:off x="0" y="0"/>
            <a:ext cx="9144000" cy="1050925"/>
          </a:xfrm>
          <a:solidFill>
            <a:srgbClr val="FFC000"/>
          </a:solidFill>
        </p:spPr>
        <p:txBody>
          <a:bodyPr/>
          <a:lstStyle/>
          <a:p>
            <a:pPr eaLnBrk="1" hangingPunct="1"/>
            <a:r>
              <a:rPr lang="en-GB" altLang="en-US" sz="3600">
                <a:solidFill>
                  <a:schemeClr val="bg1"/>
                </a:solidFill>
              </a:rPr>
              <a:t>Consider just the air in a ‘closed’ container</a:t>
            </a:r>
          </a:p>
        </p:txBody>
      </p:sp>
      <p:grpSp>
        <p:nvGrpSpPr>
          <p:cNvPr id="19459" name="Group 13">
            <a:extLst>
              <a:ext uri="{FF2B5EF4-FFF2-40B4-BE49-F238E27FC236}">
                <a16:creationId xmlns:a16="http://schemas.microsoft.com/office/drawing/2014/main" id="{8A235C2F-3F80-FF03-9B65-36970F47406D}"/>
              </a:ext>
            </a:extLst>
          </p:cNvPr>
          <p:cNvGrpSpPr>
            <a:grpSpLocks/>
          </p:cNvGrpSpPr>
          <p:nvPr/>
        </p:nvGrpSpPr>
        <p:grpSpPr bwMode="auto">
          <a:xfrm>
            <a:off x="755650" y="5634038"/>
            <a:ext cx="7848600" cy="1108075"/>
            <a:chOff x="476" y="3549"/>
            <a:chExt cx="4944" cy="698"/>
          </a:xfrm>
        </p:grpSpPr>
        <p:sp>
          <p:nvSpPr>
            <p:cNvPr id="19468" name="Text Box 8">
              <a:extLst>
                <a:ext uri="{FF2B5EF4-FFF2-40B4-BE49-F238E27FC236}">
                  <a16:creationId xmlns:a16="http://schemas.microsoft.com/office/drawing/2014/main" id="{0A34564D-06D7-F1C8-DB0D-6E21E626DDC4}"/>
                </a:ext>
              </a:extLst>
            </p:cNvPr>
            <p:cNvSpPr txBox="1">
              <a:spLocks noChangeArrowheads="1"/>
            </p:cNvSpPr>
            <p:nvPr/>
          </p:nvSpPr>
          <p:spPr bwMode="auto">
            <a:xfrm>
              <a:off x="476" y="4010"/>
              <a:ext cx="4944"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800"/>
                <a:t>Second box has molecules crammed into a smaller space (higher pressure)</a:t>
              </a:r>
            </a:p>
          </p:txBody>
        </p:sp>
        <p:sp>
          <p:nvSpPr>
            <p:cNvPr id="19469" name="Line 9">
              <a:extLst>
                <a:ext uri="{FF2B5EF4-FFF2-40B4-BE49-F238E27FC236}">
                  <a16:creationId xmlns:a16="http://schemas.microsoft.com/office/drawing/2014/main" id="{366E2FC7-FB3C-A707-8EEB-107D3B19B163}"/>
                </a:ext>
              </a:extLst>
            </p:cNvPr>
            <p:cNvSpPr>
              <a:spLocks noChangeShapeType="1"/>
            </p:cNvSpPr>
            <p:nvPr/>
          </p:nvSpPr>
          <p:spPr bwMode="auto">
            <a:xfrm flipV="1">
              <a:off x="3923" y="3549"/>
              <a:ext cx="0" cy="45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19460" name="Group 12">
            <a:extLst>
              <a:ext uri="{FF2B5EF4-FFF2-40B4-BE49-F238E27FC236}">
                <a16:creationId xmlns:a16="http://schemas.microsoft.com/office/drawing/2014/main" id="{8E070693-A678-7362-EDE4-565D49E4C35D}"/>
              </a:ext>
            </a:extLst>
          </p:cNvPr>
          <p:cNvGrpSpPr>
            <a:grpSpLocks/>
          </p:cNvGrpSpPr>
          <p:nvPr/>
        </p:nvGrpSpPr>
        <p:grpSpPr bwMode="auto">
          <a:xfrm>
            <a:off x="684213" y="3644900"/>
            <a:ext cx="7848600" cy="1296988"/>
            <a:chOff x="431" y="2296"/>
            <a:chExt cx="4944" cy="817"/>
          </a:xfrm>
        </p:grpSpPr>
        <p:sp>
          <p:nvSpPr>
            <p:cNvPr id="19465" name="Text Box 7">
              <a:extLst>
                <a:ext uri="{FF2B5EF4-FFF2-40B4-BE49-F238E27FC236}">
                  <a16:creationId xmlns:a16="http://schemas.microsoft.com/office/drawing/2014/main" id="{5A980B30-A1FA-E76A-F493-E64D1AA7788F}"/>
                </a:ext>
              </a:extLst>
            </p:cNvPr>
            <p:cNvSpPr txBox="1">
              <a:spLocks noChangeArrowheads="1"/>
            </p:cNvSpPr>
            <p:nvPr/>
          </p:nvSpPr>
          <p:spPr bwMode="auto">
            <a:xfrm>
              <a:off x="431" y="2296"/>
              <a:ext cx="4944"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800"/>
                <a:t>Two boxes with gas at high temperature (molecules moving around fast)</a:t>
              </a:r>
            </a:p>
          </p:txBody>
        </p:sp>
        <p:sp>
          <p:nvSpPr>
            <p:cNvPr id="19466" name="Line 10">
              <a:extLst>
                <a:ext uri="{FF2B5EF4-FFF2-40B4-BE49-F238E27FC236}">
                  <a16:creationId xmlns:a16="http://schemas.microsoft.com/office/drawing/2014/main" id="{F6F53098-F4A4-72C1-C2B6-21183036C49E}"/>
                </a:ext>
              </a:extLst>
            </p:cNvPr>
            <p:cNvSpPr>
              <a:spLocks noChangeShapeType="1"/>
            </p:cNvSpPr>
            <p:nvPr/>
          </p:nvSpPr>
          <p:spPr bwMode="auto">
            <a:xfrm>
              <a:off x="1973" y="2523"/>
              <a:ext cx="0" cy="272"/>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67" name="Line 11">
              <a:extLst>
                <a:ext uri="{FF2B5EF4-FFF2-40B4-BE49-F238E27FC236}">
                  <a16:creationId xmlns:a16="http://schemas.microsoft.com/office/drawing/2014/main" id="{1D12E454-A879-95E8-9B97-59B5478D9627}"/>
                </a:ext>
              </a:extLst>
            </p:cNvPr>
            <p:cNvSpPr>
              <a:spLocks noChangeShapeType="1"/>
            </p:cNvSpPr>
            <p:nvPr/>
          </p:nvSpPr>
          <p:spPr bwMode="auto">
            <a:xfrm>
              <a:off x="3878" y="2523"/>
              <a:ext cx="0" cy="59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9461" name="Text Box 15">
            <a:extLst>
              <a:ext uri="{FF2B5EF4-FFF2-40B4-BE49-F238E27FC236}">
                <a16:creationId xmlns:a16="http://schemas.microsoft.com/office/drawing/2014/main" id="{05D60FE6-6159-B28C-6BE6-FB811BD411A1}"/>
              </a:ext>
            </a:extLst>
          </p:cNvPr>
          <p:cNvSpPr txBox="1">
            <a:spLocks noChangeArrowheads="1"/>
          </p:cNvSpPr>
          <p:nvPr/>
        </p:nvSpPr>
        <p:spPr bwMode="auto">
          <a:xfrm rot="-5400000">
            <a:off x="2455863" y="2071688"/>
            <a:ext cx="2343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400">
                <a:solidFill>
                  <a:srgbClr val="FF0000"/>
                </a:solidFill>
              </a:rPr>
              <a:t>Allow gas to expand here</a:t>
            </a:r>
          </a:p>
        </p:txBody>
      </p:sp>
      <p:sp>
        <p:nvSpPr>
          <p:cNvPr id="19462" name="Text Box 16">
            <a:extLst>
              <a:ext uri="{FF2B5EF4-FFF2-40B4-BE49-F238E27FC236}">
                <a16:creationId xmlns:a16="http://schemas.microsoft.com/office/drawing/2014/main" id="{7FF6E765-F66B-736E-1B27-67186C810045}"/>
              </a:ext>
            </a:extLst>
          </p:cNvPr>
          <p:cNvSpPr txBox="1">
            <a:spLocks noChangeArrowheads="1"/>
          </p:cNvSpPr>
          <p:nvPr/>
        </p:nvSpPr>
        <p:spPr bwMode="auto">
          <a:xfrm rot="-5400000">
            <a:off x="4256088" y="2071688"/>
            <a:ext cx="2343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400">
                <a:solidFill>
                  <a:srgbClr val="FF0000"/>
                </a:solidFill>
              </a:rPr>
              <a:t>Gas stops expanding</a:t>
            </a:r>
          </a:p>
        </p:txBody>
      </p:sp>
      <p:sp>
        <p:nvSpPr>
          <p:cNvPr id="6163" name="Text Box 19">
            <a:extLst>
              <a:ext uri="{FF2B5EF4-FFF2-40B4-BE49-F238E27FC236}">
                <a16:creationId xmlns:a16="http://schemas.microsoft.com/office/drawing/2014/main" id="{D6E840BF-28D7-8581-54FE-9EB9C69D36F0}"/>
              </a:ext>
            </a:extLst>
          </p:cNvPr>
          <p:cNvSpPr txBox="1">
            <a:spLocks noChangeArrowheads="1"/>
          </p:cNvSpPr>
          <p:nvPr/>
        </p:nvSpPr>
        <p:spPr bwMode="auto">
          <a:xfrm>
            <a:off x="250825" y="1341438"/>
            <a:ext cx="7993063" cy="2292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800100" indent="-342900">
              <a:defRPr>
                <a:solidFill>
                  <a:schemeClr val="tx1"/>
                </a:solidFill>
                <a:latin typeface="Arial" panose="020B0604020202020204" pitchFamily="34" charset="0"/>
                <a:ea typeface="ＭＳ Ｐゴシック" panose="020B0600070205080204" pitchFamily="34" charset="-128"/>
              </a:defRPr>
            </a:lvl2pPr>
            <a:lvl3pPr marL="1257300" indent="-342900">
              <a:defRPr>
                <a:solidFill>
                  <a:schemeClr val="tx1"/>
                </a:solidFill>
                <a:latin typeface="Arial" panose="020B0604020202020204" pitchFamily="34" charset="0"/>
                <a:ea typeface="ＭＳ Ｐゴシック" panose="020B0600070205080204" pitchFamily="34" charset="-128"/>
              </a:defRPr>
            </a:lvl3pPr>
            <a:lvl4pPr marL="1714500" indent="-342900">
              <a:defRPr>
                <a:solidFill>
                  <a:schemeClr val="tx1"/>
                </a:solidFill>
                <a:latin typeface="Arial" panose="020B0604020202020204" pitchFamily="34" charset="0"/>
                <a:ea typeface="ＭＳ Ｐゴシック" panose="020B0600070205080204" pitchFamily="34" charset="-128"/>
              </a:defRPr>
            </a:lvl4pPr>
            <a:lvl5pPr marL="2171700" indent="-342900">
              <a:defRPr>
                <a:solidFill>
                  <a:schemeClr val="tx1"/>
                </a:solidFill>
                <a:latin typeface="Arial" panose="020B0604020202020204" pitchFamily="34" charset="0"/>
                <a:ea typeface="ＭＳ Ｐゴシック" panose="020B0600070205080204" pitchFamily="34" charset="-128"/>
              </a:defRPr>
            </a:lvl5pPr>
            <a:lvl6pPr marL="2628900" indent="-3429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3086100" indent="-3429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543300" indent="-3429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4000500" indent="-3429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AutoNum type="arabicPeriod"/>
            </a:pPr>
            <a:r>
              <a:rPr lang="en-GB" altLang="en-US"/>
              <a:t>Using </a:t>
            </a:r>
            <a:r>
              <a:rPr lang="en-GB" altLang="en-US" b="1" u="sng"/>
              <a:t>Kinetic Theory</a:t>
            </a:r>
            <a:r>
              <a:rPr lang="en-GB" altLang="en-US"/>
              <a:t> how does the speed (Kinetic Energy) of molecules affect their temperature?</a:t>
            </a:r>
          </a:p>
          <a:p>
            <a:pPr>
              <a:spcBef>
                <a:spcPct val="50000"/>
              </a:spcBef>
              <a:buFontTx/>
              <a:buAutoNum type="arabicPeriod"/>
            </a:pPr>
            <a:r>
              <a:rPr lang="en-GB" altLang="en-US"/>
              <a:t>There is a law describing how energy and work are related</a:t>
            </a:r>
          </a:p>
          <a:p>
            <a:pPr>
              <a:spcBef>
                <a:spcPct val="50000"/>
              </a:spcBef>
              <a:buFontTx/>
              <a:buAutoNum type="arabicPeriod"/>
            </a:pPr>
            <a:endParaRPr lang="en-GB" altLang="en-US"/>
          </a:p>
          <a:p>
            <a:pPr>
              <a:spcBef>
                <a:spcPct val="50000"/>
              </a:spcBef>
              <a:buFontTx/>
              <a:buAutoNum type="arabicPeriod"/>
            </a:pPr>
            <a:endParaRPr lang="en-GB" altLang="en-US"/>
          </a:p>
          <a:p>
            <a:pPr>
              <a:spcBef>
                <a:spcPct val="50000"/>
              </a:spcBef>
              <a:buFontTx/>
              <a:buAutoNum type="arabicPeriod"/>
            </a:pPr>
            <a:endParaRPr lang="en-GB" altLang="en-US"/>
          </a:p>
        </p:txBody>
      </p:sp>
      <p:pic>
        <p:nvPicPr>
          <p:cNvPr id="3" name="Picture 2">
            <a:extLst>
              <a:ext uri="{FF2B5EF4-FFF2-40B4-BE49-F238E27FC236}">
                <a16:creationId xmlns:a16="http://schemas.microsoft.com/office/drawing/2014/main" id="{4162157B-D164-2946-4EF4-9A74884B2B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3701"/>
          <a:stretch>
            <a:fillRect/>
          </a:stretch>
        </p:blipFill>
        <p:spPr bwMode="auto">
          <a:xfrm>
            <a:off x="2600325" y="2660650"/>
            <a:ext cx="388620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163"/>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1" name="Picture 16" descr="animation1a">
            <a:extLst>
              <a:ext uri="{FF2B5EF4-FFF2-40B4-BE49-F238E27FC236}">
                <a16:creationId xmlns:a16="http://schemas.microsoft.com/office/drawing/2014/main" id="{3F87F542-18C3-1050-7343-2740F48FFC95}"/>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55663" y="719138"/>
            <a:ext cx="7604125" cy="636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2" name="Rectangle 3">
            <a:extLst>
              <a:ext uri="{FF2B5EF4-FFF2-40B4-BE49-F238E27FC236}">
                <a16:creationId xmlns:a16="http://schemas.microsoft.com/office/drawing/2014/main" id="{6D79EA80-EC24-5F86-9C3F-55F309D8F746}"/>
              </a:ext>
            </a:extLst>
          </p:cNvPr>
          <p:cNvSpPr>
            <a:spLocks noGrp="1" noChangeArrowheads="1"/>
          </p:cNvSpPr>
          <p:nvPr>
            <p:ph type="title"/>
          </p:nvPr>
        </p:nvSpPr>
        <p:spPr>
          <a:xfrm>
            <a:off x="0" y="0"/>
            <a:ext cx="9144000" cy="1052513"/>
          </a:xfrm>
          <a:solidFill>
            <a:srgbClr val="FFC000"/>
          </a:solidFill>
        </p:spPr>
        <p:txBody>
          <a:bodyPr/>
          <a:lstStyle/>
          <a:p>
            <a:pPr eaLnBrk="1" hangingPunct="1"/>
            <a:r>
              <a:rPr lang="en-GB" altLang="en-US" sz="3600">
                <a:solidFill>
                  <a:schemeClr val="bg1"/>
                </a:solidFill>
              </a:rPr>
              <a:t>Consider just the air in a ‘closed’ container</a:t>
            </a:r>
          </a:p>
        </p:txBody>
      </p:sp>
      <p:grpSp>
        <p:nvGrpSpPr>
          <p:cNvPr id="20483" name="Group 15">
            <a:extLst>
              <a:ext uri="{FF2B5EF4-FFF2-40B4-BE49-F238E27FC236}">
                <a16:creationId xmlns:a16="http://schemas.microsoft.com/office/drawing/2014/main" id="{7C313244-8861-735D-0560-B6305F28F177}"/>
              </a:ext>
            </a:extLst>
          </p:cNvPr>
          <p:cNvGrpSpPr>
            <a:grpSpLocks/>
          </p:cNvGrpSpPr>
          <p:nvPr/>
        </p:nvGrpSpPr>
        <p:grpSpPr bwMode="auto">
          <a:xfrm>
            <a:off x="684213" y="3500438"/>
            <a:ext cx="7848600" cy="792162"/>
            <a:chOff x="431" y="2205"/>
            <a:chExt cx="4944" cy="635"/>
          </a:xfrm>
        </p:grpSpPr>
        <p:sp>
          <p:nvSpPr>
            <p:cNvPr id="20486" name="Text Box 12">
              <a:extLst>
                <a:ext uri="{FF2B5EF4-FFF2-40B4-BE49-F238E27FC236}">
                  <a16:creationId xmlns:a16="http://schemas.microsoft.com/office/drawing/2014/main" id="{5A5CB3CD-79E1-9FFC-71F4-6551F8974FB5}"/>
                </a:ext>
              </a:extLst>
            </p:cNvPr>
            <p:cNvSpPr txBox="1">
              <a:spLocks noChangeArrowheads="1"/>
            </p:cNvSpPr>
            <p:nvPr/>
          </p:nvSpPr>
          <p:spPr bwMode="auto">
            <a:xfrm>
              <a:off x="431" y="2205"/>
              <a:ext cx="4944" cy="47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GB" altLang="en-US" sz="1600"/>
                <a:t>We are going to allow the gas molecules </a:t>
              </a:r>
              <a:r>
                <a:rPr lang="en-GB" altLang="en-US" sz="1600" b="1"/>
                <a:t>in second box</a:t>
              </a:r>
              <a:r>
                <a:rPr lang="en-GB" altLang="en-US" sz="1600"/>
                <a:t> to `push</a:t>
              </a:r>
              <a:r>
                <a:rPr lang="ja-JP" altLang="en-GB" sz="1600"/>
                <a:t>’</a:t>
              </a:r>
              <a:r>
                <a:rPr lang="en-GB" altLang="ja-JP" sz="1600"/>
                <a:t> against the surrounding air and slow down as a result (temperature is reduced)</a:t>
              </a:r>
              <a:endParaRPr lang="en-GB" altLang="en-US" sz="1600"/>
            </a:p>
          </p:txBody>
        </p:sp>
        <p:sp>
          <p:nvSpPr>
            <p:cNvPr id="20487" name="Line 14">
              <a:extLst>
                <a:ext uri="{FF2B5EF4-FFF2-40B4-BE49-F238E27FC236}">
                  <a16:creationId xmlns:a16="http://schemas.microsoft.com/office/drawing/2014/main" id="{A1EF729A-E9CA-3B98-7A68-A1C48949360D}"/>
                </a:ext>
              </a:extLst>
            </p:cNvPr>
            <p:cNvSpPr>
              <a:spLocks noChangeShapeType="1"/>
            </p:cNvSpPr>
            <p:nvPr/>
          </p:nvSpPr>
          <p:spPr bwMode="auto">
            <a:xfrm>
              <a:off x="3878" y="2613"/>
              <a:ext cx="0" cy="227"/>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0484" name="Text Box 17">
            <a:extLst>
              <a:ext uri="{FF2B5EF4-FFF2-40B4-BE49-F238E27FC236}">
                <a16:creationId xmlns:a16="http://schemas.microsoft.com/office/drawing/2014/main" id="{DD13C472-BF1C-6315-E1F1-8585263408B2}"/>
              </a:ext>
            </a:extLst>
          </p:cNvPr>
          <p:cNvSpPr txBox="1">
            <a:spLocks noChangeArrowheads="1"/>
          </p:cNvSpPr>
          <p:nvPr/>
        </p:nvSpPr>
        <p:spPr bwMode="auto">
          <a:xfrm rot="-5400000">
            <a:off x="2455863" y="2071688"/>
            <a:ext cx="2343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400">
                <a:solidFill>
                  <a:srgbClr val="FF0000"/>
                </a:solidFill>
              </a:rPr>
              <a:t>Allow gas to expand here</a:t>
            </a:r>
          </a:p>
        </p:txBody>
      </p:sp>
      <p:sp>
        <p:nvSpPr>
          <p:cNvPr id="20485" name="Text Box 18">
            <a:extLst>
              <a:ext uri="{FF2B5EF4-FFF2-40B4-BE49-F238E27FC236}">
                <a16:creationId xmlns:a16="http://schemas.microsoft.com/office/drawing/2014/main" id="{FFD95B98-0BB4-F163-D822-B242F37BE844}"/>
              </a:ext>
            </a:extLst>
          </p:cNvPr>
          <p:cNvSpPr txBox="1">
            <a:spLocks noChangeArrowheads="1"/>
          </p:cNvSpPr>
          <p:nvPr/>
        </p:nvSpPr>
        <p:spPr bwMode="auto">
          <a:xfrm rot="-5400000">
            <a:off x="4256088" y="2071688"/>
            <a:ext cx="2343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400">
                <a:solidFill>
                  <a:srgbClr val="FF0000"/>
                </a:solidFill>
              </a:rPr>
              <a:t>Gas stops expanding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46058635-0302-024D-A986-7EB71CCB1A68}"/>
              </a:ext>
            </a:extLst>
          </p:cNvPr>
          <p:cNvSpPr>
            <a:spLocks noGrp="1" noChangeArrowheads="1"/>
          </p:cNvSpPr>
          <p:nvPr>
            <p:ph type="title"/>
          </p:nvPr>
        </p:nvSpPr>
        <p:spPr>
          <a:xfrm>
            <a:off x="0" y="-17463"/>
            <a:ext cx="9144000" cy="1143001"/>
          </a:xfrm>
          <a:solidFill>
            <a:srgbClr val="FFC000"/>
          </a:solidFill>
        </p:spPr>
        <p:txBody>
          <a:bodyPr/>
          <a:lstStyle/>
          <a:p>
            <a:pPr eaLnBrk="1" hangingPunct="1">
              <a:defRPr/>
            </a:pPr>
            <a:r>
              <a:rPr lang="en-GB" altLang="en-US" sz="3200" dirty="0">
                <a:solidFill>
                  <a:schemeClr val="bg1"/>
                </a:solidFill>
              </a:rPr>
              <a:t>Now consider the water vapour</a:t>
            </a:r>
            <a:endParaRPr lang="en-GB" sz="3200" dirty="0">
              <a:solidFill>
                <a:schemeClr val="bg1"/>
              </a:solidFill>
              <a:cs typeface="+mj-cs"/>
            </a:endParaRPr>
          </a:p>
        </p:txBody>
      </p:sp>
      <p:pic>
        <p:nvPicPr>
          <p:cNvPr id="21506" name="Picture 3" descr="svp">
            <a:extLst>
              <a:ext uri="{FF2B5EF4-FFF2-40B4-BE49-F238E27FC236}">
                <a16:creationId xmlns:a16="http://schemas.microsoft.com/office/drawing/2014/main" id="{F8E52ADF-12F6-6CA7-1605-ADC2C3B87B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488" y="1738313"/>
            <a:ext cx="6169025"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AutoShape 4">
            <a:extLst>
              <a:ext uri="{FF2B5EF4-FFF2-40B4-BE49-F238E27FC236}">
                <a16:creationId xmlns:a16="http://schemas.microsoft.com/office/drawing/2014/main" id="{84C3C332-B5D7-B64B-BCCE-453188444309}"/>
              </a:ext>
            </a:extLst>
          </p:cNvPr>
          <p:cNvSpPr>
            <a:spLocks noChangeArrowheads="1"/>
          </p:cNvSpPr>
          <p:nvPr/>
        </p:nvSpPr>
        <p:spPr bwMode="auto">
          <a:xfrm>
            <a:off x="5795963" y="3716338"/>
            <a:ext cx="360362" cy="360362"/>
          </a:xfrm>
          <a:custGeom>
            <a:avLst/>
            <a:gdLst>
              <a:gd name="T0" fmla="*/ 0 w 360362"/>
              <a:gd name="T1" fmla="*/ 137646 h 360362"/>
              <a:gd name="T2" fmla="*/ 137647 w 360362"/>
              <a:gd name="T3" fmla="*/ 137647 h 360362"/>
              <a:gd name="T4" fmla="*/ 180181 w 360362"/>
              <a:gd name="T5" fmla="*/ 0 h 360362"/>
              <a:gd name="T6" fmla="*/ 222715 w 360362"/>
              <a:gd name="T7" fmla="*/ 137647 h 360362"/>
              <a:gd name="T8" fmla="*/ 360362 w 360362"/>
              <a:gd name="T9" fmla="*/ 137646 h 360362"/>
              <a:gd name="T10" fmla="*/ 249003 w 360362"/>
              <a:gd name="T11" fmla="*/ 222715 h 360362"/>
              <a:gd name="T12" fmla="*/ 291539 w 360362"/>
              <a:gd name="T13" fmla="*/ 360361 h 360362"/>
              <a:gd name="T14" fmla="*/ 180181 w 360362"/>
              <a:gd name="T15" fmla="*/ 275290 h 360362"/>
              <a:gd name="T16" fmla="*/ 68823 w 360362"/>
              <a:gd name="T17" fmla="*/ 360361 h 360362"/>
              <a:gd name="T18" fmla="*/ 111359 w 360362"/>
              <a:gd name="T19" fmla="*/ 222715 h 360362"/>
              <a:gd name="T20" fmla="*/ 0 w 360362"/>
              <a:gd name="T21" fmla="*/ 137646 h 3603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60362" h="360362">
                <a:moveTo>
                  <a:pt x="0" y="137646"/>
                </a:moveTo>
                <a:lnTo>
                  <a:pt x="137647" y="137647"/>
                </a:lnTo>
                <a:lnTo>
                  <a:pt x="180181" y="0"/>
                </a:lnTo>
                <a:lnTo>
                  <a:pt x="222715" y="137647"/>
                </a:lnTo>
                <a:lnTo>
                  <a:pt x="360362" y="137646"/>
                </a:lnTo>
                <a:lnTo>
                  <a:pt x="249003" y="222715"/>
                </a:lnTo>
                <a:lnTo>
                  <a:pt x="291539" y="360361"/>
                </a:lnTo>
                <a:lnTo>
                  <a:pt x="180181" y="275290"/>
                </a:lnTo>
                <a:lnTo>
                  <a:pt x="68823" y="360361"/>
                </a:lnTo>
                <a:lnTo>
                  <a:pt x="111359" y="222715"/>
                </a:lnTo>
                <a:lnTo>
                  <a:pt x="0" y="137646"/>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en-US"/>
          </a:p>
        </p:txBody>
      </p:sp>
      <p:sp>
        <p:nvSpPr>
          <p:cNvPr id="31749" name="Text Box 5">
            <a:extLst>
              <a:ext uri="{FF2B5EF4-FFF2-40B4-BE49-F238E27FC236}">
                <a16:creationId xmlns:a16="http://schemas.microsoft.com/office/drawing/2014/main" id="{1B5C4918-E697-FE8F-3F0F-CFD18BB9F70B}"/>
              </a:ext>
            </a:extLst>
          </p:cNvPr>
          <p:cNvSpPr txBox="1">
            <a:spLocks noChangeArrowheads="1"/>
          </p:cNvSpPr>
          <p:nvPr/>
        </p:nvSpPr>
        <p:spPr bwMode="auto">
          <a:xfrm>
            <a:off x="4572000" y="3709988"/>
            <a:ext cx="2873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800" b="1">
                <a:solidFill>
                  <a:srgbClr val="0000FF"/>
                </a:solidFill>
              </a:rPr>
              <a:t>?</a:t>
            </a:r>
          </a:p>
        </p:txBody>
      </p:sp>
      <p:sp>
        <p:nvSpPr>
          <p:cNvPr id="31750" name="Text Box 6">
            <a:extLst>
              <a:ext uri="{FF2B5EF4-FFF2-40B4-BE49-F238E27FC236}">
                <a16:creationId xmlns:a16="http://schemas.microsoft.com/office/drawing/2014/main" id="{773B50DD-CA78-747D-F71E-607FC7781B39}"/>
              </a:ext>
            </a:extLst>
          </p:cNvPr>
          <p:cNvSpPr txBox="1">
            <a:spLocks noChangeArrowheads="1"/>
          </p:cNvSpPr>
          <p:nvPr/>
        </p:nvSpPr>
        <p:spPr bwMode="auto">
          <a:xfrm>
            <a:off x="3851275" y="3068638"/>
            <a:ext cx="1944688" cy="650875"/>
          </a:xfrm>
          <a:prstGeom prst="rect">
            <a:avLst/>
          </a:prstGeom>
          <a:solidFill>
            <a:schemeClr val="bg1"/>
          </a:solidFill>
          <a:ln w="9525">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800" i="1">
                <a:solidFill>
                  <a:srgbClr val="0000FF"/>
                </a:solidFill>
              </a:rPr>
              <a:t>Cools during the night</a:t>
            </a:r>
          </a:p>
        </p:txBody>
      </p:sp>
      <p:sp>
        <p:nvSpPr>
          <p:cNvPr id="31751" name="Oval 7">
            <a:extLst>
              <a:ext uri="{FF2B5EF4-FFF2-40B4-BE49-F238E27FC236}">
                <a16:creationId xmlns:a16="http://schemas.microsoft.com/office/drawing/2014/main" id="{AE51FF13-1EEA-D47D-8487-3336935F2247}"/>
              </a:ext>
            </a:extLst>
          </p:cNvPr>
          <p:cNvSpPr>
            <a:spLocks noChangeArrowheads="1"/>
          </p:cNvSpPr>
          <p:nvPr/>
        </p:nvSpPr>
        <p:spPr bwMode="auto">
          <a:xfrm>
            <a:off x="5349875" y="3789363"/>
            <a:ext cx="287338" cy="2873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en-US" altLang="en-US" sz="1800"/>
          </a:p>
        </p:txBody>
      </p:sp>
      <p:sp>
        <p:nvSpPr>
          <p:cNvPr id="31752" name="Line 8">
            <a:extLst>
              <a:ext uri="{FF2B5EF4-FFF2-40B4-BE49-F238E27FC236}">
                <a16:creationId xmlns:a16="http://schemas.microsoft.com/office/drawing/2014/main" id="{0BAE2D06-358D-A1E9-FA2B-181229504959}"/>
              </a:ext>
            </a:extLst>
          </p:cNvPr>
          <p:cNvSpPr>
            <a:spLocks noChangeShapeType="1"/>
          </p:cNvSpPr>
          <p:nvPr/>
        </p:nvSpPr>
        <p:spPr bwMode="auto">
          <a:xfrm flipH="1">
            <a:off x="4816475" y="3919538"/>
            <a:ext cx="1152525"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1753" name="Group 9">
            <a:extLst>
              <a:ext uri="{FF2B5EF4-FFF2-40B4-BE49-F238E27FC236}">
                <a16:creationId xmlns:a16="http://schemas.microsoft.com/office/drawing/2014/main" id="{7F43CF56-2FD2-5D06-9E72-F192E62C33A5}"/>
              </a:ext>
            </a:extLst>
          </p:cNvPr>
          <p:cNvGrpSpPr>
            <a:grpSpLocks/>
          </p:cNvGrpSpPr>
          <p:nvPr/>
        </p:nvGrpSpPr>
        <p:grpSpPr bwMode="auto">
          <a:xfrm>
            <a:off x="6084888" y="3068638"/>
            <a:ext cx="2301875" cy="720725"/>
            <a:chOff x="3833" y="1933"/>
            <a:chExt cx="1450" cy="454"/>
          </a:xfrm>
        </p:grpSpPr>
        <p:sp>
          <p:nvSpPr>
            <p:cNvPr id="21518" name="Text Box 10">
              <a:extLst>
                <a:ext uri="{FF2B5EF4-FFF2-40B4-BE49-F238E27FC236}">
                  <a16:creationId xmlns:a16="http://schemas.microsoft.com/office/drawing/2014/main" id="{3D43C1BF-38AB-E70C-C633-157EAE050E33}"/>
                </a:ext>
              </a:extLst>
            </p:cNvPr>
            <p:cNvSpPr txBox="1">
              <a:spLocks noChangeArrowheads="1"/>
            </p:cNvSpPr>
            <p:nvPr/>
          </p:nvSpPr>
          <p:spPr bwMode="auto">
            <a:xfrm>
              <a:off x="3923" y="1933"/>
              <a:ext cx="1360" cy="410"/>
            </a:xfrm>
            <a:prstGeom prst="rect">
              <a:avLst/>
            </a:prstGeom>
            <a:solidFill>
              <a:schemeClr val="bg1"/>
            </a:solidFill>
            <a:ln w="9525">
              <a:solidFill>
                <a:srgbClr val="FF0000"/>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en-GB" altLang="en-US" sz="1800" i="1">
                  <a:solidFill>
                    <a:srgbClr val="FF0000"/>
                  </a:solidFill>
                </a:rPr>
                <a:t>This much water in the air</a:t>
              </a:r>
            </a:p>
          </p:txBody>
        </p:sp>
        <p:sp>
          <p:nvSpPr>
            <p:cNvPr id="21519" name="Line 11">
              <a:extLst>
                <a:ext uri="{FF2B5EF4-FFF2-40B4-BE49-F238E27FC236}">
                  <a16:creationId xmlns:a16="http://schemas.microsoft.com/office/drawing/2014/main" id="{6042B919-14A3-4BAA-2E1C-76F808FD5CF6}"/>
                </a:ext>
              </a:extLst>
            </p:cNvPr>
            <p:cNvSpPr>
              <a:spLocks noChangeShapeType="1"/>
            </p:cNvSpPr>
            <p:nvPr/>
          </p:nvSpPr>
          <p:spPr bwMode="auto">
            <a:xfrm flipH="1">
              <a:off x="3833" y="2205"/>
              <a:ext cx="90" cy="182"/>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1756" name="Text Box 12">
            <a:extLst>
              <a:ext uri="{FF2B5EF4-FFF2-40B4-BE49-F238E27FC236}">
                <a16:creationId xmlns:a16="http://schemas.microsoft.com/office/drawing/2014/main" id="{5BED1C43-DA8B-447D-AAD4-4A9FC32E506F}"/>
              </a:ext>
            </a:extLst>
          </p:cNvPr>
          <p:cNvSpPr txBox="1">
            <a:spLocks noChangeArrowheads="1"/>
          </p:cNvSpPr>
          <p:nvPr/>
        </p:nvSpPr>
        <p:spPr bwMode="auto">
          <a:xfrm>
            <a:off x="4716463" y="4868863"/>
            <a:ext cx="1943100"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en-GB" altLang="en-US" sz="1800" b="1"/>
              <a:t>Water exists as vapour here </a:t>
            </a:r>
          </a:p>
        </p:txBody>
      </p:sp>
      <p:sp>
        <p:nvSpPr>
          <p:cNvPr id="31757" name="Text Box 13">
            <a:extLst>
              <a:ext uri="{FF2B5EF4-FFF2-40B4-BE49-F238E27FC236}">
                <a16:creationId xmlns:a16="http://schemas.microsoft.com/office/drawing/2014/main" id="{82F4B026-1989-F3AA-3B46-7602B90DC984}"/>
              </a:ext>
            </a:extLst>
          </p:cNvPr>
          <p:cNvSpPr txBox="1">
            <a:spLocks noChangeArrowheads="1"/>
          </p:cNvSpPr>
          <p:nvPr/>
        </p:nvSpPr>
        <p:spPr bwMode="auto">
          <a:xfrm>
            <a:off x="2555875" y="3860800"/>
            <a:ext cx="1943100" cy="9255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en-GB" altLang="en-US" sz="1800" b="1"/>
              <a:t>Water exists as liquid </a:t>
            </a:r>
            <a:r>
              <a:rPr lang="en-GB" altLang="en-US" sz="1800" b="1" i="1"/>
              <a:t>and</a:t>
            </a:r>
            <a:r>
              <a:rPr lang="en-GB" altLang="en-US" sz="1800" b="1"/>
              <a:t> vapour here </a:t>
            </a:r>
          </a:p>
        </p:txBody>
      </p:sp>
      <p:sp>
        <p:nvSpPr>
          <p:cNvPr id="21515" name="Text Box 14">
            <a:extLst>
              <a:ext uri="{FF2B5EF4-FFF2-40B4-BE49-F238E27FC236}">
                <a16:creationId xmlns:a16="http://schemas.microsoft.com/office/drawing/2014/main" id="{AB462857-82F1-EDA7-9C40-B8B73032F186}"/>
              </a:ext>
            </a:extLst>
          </p:cNvPr>
          <p:cNvSpPr txBox="1">
            <a:spLocks noChangeArrowheads="1"/>
          </p:cNvSpPr>
          <p:nvPr/>
        </p:nvSpPr>
        <p:spPr bwMode="auto">
          <a:xfrm rot="-5400000">
            <a:off x="-506412" y="3332162"/>
            <a:ext cx="3602038"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800" i="1"/>
              <a:t>Equilibrium vapour pressure (Pa)</a:t>
            </a:r>
          </a:p>
          <a:p>
            <a:pPr>
              <a:spcBef>
                <a:spcPct val="50000"/>
              </a:spcBef>
              <a:buFontTx/>
              <a:buNone/>
            </a:pPr>
            <a:r>
              <a:rPr lang="en-GB" altLang="en-US" sz="1800" i="1"/>
              <a:t>Over a flat water surface</a:t>
            </a:r>
          </a:p>
        </p:txBody>
      </p:sp>
      <p:sp>
        <p:nvSpPr>
          <p:cNvPr id="21516" name="Text Box 15">
            <a:extLst>
              <a:ext uri="{FF2B5EF4-FFF2-40B4-BE49-F238E27FC236}">
                <a16:creationId xmlns:a16="http://schemas.microsoft.com/office/drawing/2014/main" id="{D7F2695D-4FD6-DF9D-DB93-0B829CBB5447}"/>
              </a:ext>
            </a:extLst>
          </p:cNvPr>
          <p:cNvSpPr txBox="1">
            <a:spLocks noChangeArrowheads="1"/>
          </p:cNvSpPr>
          <p:nvPr/>
        </p:nvSpPr>
        <p:spPr bwMode="auto">
          <a:xfrm>
            <a:off x="2085975" y="1125538"/>
            <a:ext cx="52212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800"/>
              <a:t>Described by the ‘Clausius-Clapeyron equation’</a:t>
            </a:r>
          </a:p>
        </p:txBody>
      </p:sp>
      <p:pic>
        <p:nvPicPr>
          <p:cNvPr id="21517" name="Picture 2">
            <a:extLst>
              <a:ext uri="{FF2B5EF4-FFF2-40B4-BE49-F238E27FC236}">
                <a16:creationId xmlns:a16="http://schemas.microsoft.com/office/drawing/2014/main" id="{F33CBA64-3899-B4BC-50C2-C1E1BB7BE0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8188" y="1524000"/>
            <a:ext cx="3076575"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5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17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75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2" fill="hold" nodeType="clickEffect">
                                  <p:stCondLst>
                                    <p:cond delay="0"/>
                                  </p:stCondLst>
                                  <p:childTnLst>
                                    <p:set>
                                      <p:cBhvr>
                                        <p:cTn id="20" dur="1" fill="hold">
                                          <p:stCondLst>
                                            <p:cond delay="0"/>
                                          </p:stCondLst>
                                        </p:cTn>
                                        <p:tgtEl>
                                          <p:spTgt spid="31752"/>
                                        </p:tgtEl>
                                        <p:attrNameLst>
                                          <p:attrName>style.visibility</p:attrName>
                                        </p:attrNameLst>
                                      </p:cBhvr>
                                      <p:to>
                                        <p:strVal val="visible"/>
                                      </p:to>
                                    </p:set>
                                    <p:animEffect transition="in" filter="wipe(right)">
                                      <p:cBhvr>
                                        <p:cTn id="21" dur="500"/>
                                        <p:tgtEl>
                                          <p:spTgt spid="31752"/>
                                        </p:tgtEl>
                                      </p:cBhvr>
                                    </p:animEffect>
                                  </p:childTnLst>
                                </p:cTn>
                              </p:par>
                            </p:childTnLst>
                          </p:cTn>
                        </p:par>
                        <p:par>
                          <p:cTn id="22" fill="hold" nodeType="afterGroup">
                            <p:stCondLst>
                              <p:cond delay="500"/>
                            </p:stCondLst>
                            <p:childTnLst>
                              <p:par>
                                <p:cTn id="23" presetID="1" presetClass="entr" presetSubtype="0" fill="hold" grpId="0" nodeType="afterEffect">
                                  <p:stCondLst>
                                    <p:cond delay="0"/>
                                  </p:stCondLst>
                                  <p:childTnLst>
                                    <p:set>
                                      <p:cBhvr>
                                        <p:cTn id="24" dur="1" fill="hold">
                                          <p:stCondLst>
                                            <p:cond delay="0"/>
                                          </p:stCondLst>
                                        </p:cTn>
                                        <p:tgtEl>
                                          <p:spTgt spid="3174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75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7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p:bldP spid="31750" grpId="0" animBg="1"/>
      <p:bldP spid="31751" grpId="0" animBg="1"/>
      <p:bldP spid="31756" grpId="0" animBg="1"/>
      <p:bldP spid="3175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9" name="Picture 12" descr="pic01">
            <a:extLst>
              <a:ext uri="{FF2B5EF4-FFF2-40B4-BE49-F238E27FC236}">
                <a16:creationId xmlns:a16="http://schemas.microsoft.com/office/drawing/2014/main" id="{25FEF26C-F108-F950-3DB5-1F6E4D068E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775" y="1404938"/>
            <a:ext cx="10369550" cy="545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3">
            <a:extLst>
              <a:ext uri="{FF2B5EF4-FFF2-40B4-BE49-F238E27FC236}">
                <a16:creationId xmlns:a16="http://schemas.microsoft.com/office/drawing/2014/main" id="{DA0CE96D-FBE7-744C-A295-F095C712C82D}"/>
              </a:ext>
            </a:extLst>
          </p:cNvPr>
          <p:cNvSpPr>
            <a:spLocks noGrp="1" noChangeArrowheads="1"/>
          </p:cNvSpPr>
          <p:nvPr>
            <p:ph type="title"/>
          </p:nvPr>
        </p:nvSpPr>
        <p:spPr>
          <a:xfrm>
            <a:off x="-36513" y="-17463"/>
            <a:ext cx="9180513" cy="1143001"/>
          </a:xfrm>
          <a:solidFill>
            <a:srgbClr val="FFC000"/>
          </a:solidFill>
        </p:spPr>
        <p:txBody>
          <a:bodyPr/>
          <a:lstStyle/>
          <a:p>
            <a:pPr eaLnBrk="1" hangingPunct="1">
              <a:defRPr/>
            </a:pPr>
            <a:r>
              <a:rPr lang="en-GB" i="1" dirty="0">
                <a:solidFill>
                  <a:schemeClr val="bg1"/>
                </a:solidFill>
                <a:cs typeface="+mj-cs"/>
              </a:rPr>
              <a:t>Now consider aerosol particles</a:t>
            </a:r>
          </a:p>
        </p:txBody>
      </p:sp>
      <p:grpSp>
        <p:nvGrpSpPr>
          <p:cNvPr id="22531" name="Group 11">
            <a:extLst>
              <a:ext uri="{FF2B5EF4-FFF2-40B4-BE49-F238E27FC236}">
                <a16:creationId xmlns:a16="http://schemas.microsoft.com/office/drawing/2014/main" id="{94F95D60-0844-5CF1-A35C-A1CC281133C0}"/>
              </a:ext>
            </a:extLst>
          </p:cNvPr>
          <p:cNvGrpSpPr>
            <a:grpSpLocks/>
          </p:cNvGrpSpPr>
          <p:nvPr/>
        </p:nvGrpSpPr>
        <p:grpSpPr bwMode="auto">
          <a:xfrm>
            <a:off x="4859338" y="1268413"/>
            <a:ext cx="3673475" cy="1728787"/>
            <a:chOff x="3061" y="799"/>
            <a:chExt cx="2314" cy="1089"/>
          </a:xfrm>
        </p:grpSpPr>
        <p:sp>
          <p:nvSpPr>
            <p:cNvPr id="22536" name="Text Box 8">
              <a:extLst>
                <a:ext uri="{FF2B5EF4-FFF2-40B4-BE49-F238E27FC236}">
                  <a16:creationId xmlns:a16="http://schemas.microsoft.com/office/drawing/2014/main" id="{32AC0D00-6A01-92EE-8643-835E9B6EE2AD}"/>
                </a:ext>
              </a:extLst>
            </p:cNvPr>
            <p:cNvSpPr txBox="1">
              <a:spLocks noChangeArrowheads="1"/>
            </p:cNvSpPr>
            <p:nvPr/>
          </p:nvSpPr>
          <p:spPr bwMode="auto">
            <a:xfrm>
              <a:off x="3061" y="799"/>
              <a:ext cx="2314" cy="4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800"/>
                <a:t>Box with cloud condensation nuclei in it</a:t>
              </a:r>
            </a:p>
          </p:txBody>
        </p:sp>
        <p:sp>
          <p:nvSpPr>
            <p:cNvPr id="22537" name="Line 9">
              <a:extLst>
                <a:ext uri="{FF2B5EF4-FFF2-40B4-BE49-F238E27FC236}">
                  <a16:creationId xmlns:a16="http://schemas.microsoft.com/office/drawing/2014/main" id="{C6043965-19F2-106B-E736-22F450287365}"/>
                </a:ext>
              </a:extLst>
            </p:cNvPr>
            <p:cNvSpPr>
              <a:spLocks noChangeShapeType="1"/>
            </p:cNvSpPr>
            <p:nvPr/>
          </p:nvSpPr>
          <p:spPr bwMode="auto">
            <a:xfrm>
              <a:off x="3742" y="1207"/>
              <a:ext cx="181" cy="6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38" name="Line 10">
              <a:extLst>
                <a:ext uri="{FF2B5EF4-FFF2-40B4-BE49-F238E27FC236}">
                  <a16:creationId xmlns:a16="http://schemas.microsoft.com/office/drawing/2014/main" id="{E4D8C5C6-5086-FDE0-FEE8-19F834D30F32}"/>
                </a:ext>
              </a:extLst>
            </p:cNvPr>
            <p:cNvSpPr>
              <a:spLocks noChangeShapeType="1"/>
            </p:cNvSpPr>
            <p:nvPr/>
          </p:nvSpPr>
          <p:spPr bwMode="auto">
            <a:xfrm>
              <a:off x="3969" y="1207"/>
              <a:ext cx="408" cy="68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2532" name="Group 15">
            <a:extLst>
              <a:ext uri="{FF2B5EF4-FFF2-40B4-BE49-F238E27FC236}">
                <a16:creationId xmlns:a16="http://schemas.microsoft.com/office/drawing/2014/main" id="{B80BC93D-0E36-0871-52A0-AA1ACC12B06F}"/>
              </a:ext>
            </a:extLst>
          </p:cNvPr>
          <p:cNvGrpSpPr>
            <a:grpSpLocks/>
          </p:cNvGrpSpPr>
          <p:nvPr/>
        </p:nvGrpSpPr>
        <p:grpSpPr bwMode="auto">
          <a:xfrm>
            <a:off x="3132138" y="5157788"/>
            <a:ext cx="1873250" cy="1073150"/>
            <a:chOff x="1973" y="3249"/>
            <a:chExt cx="1180" cy="676"/>
          </a:xfrm>
        </p:grpSpPr>
        <p:sp>
          <p:nvSpPr>
            <p:cNvPr id="22534" name="Line 13">
              <a:extLst>
                <a:ext uri="{FF2B5EF4-FFF2-40B4-BE49-F238E27FC236}">
                  <a16:creationId xmlns:a16="http://schemas.microsoft.com/office/drawing/2014/main" id="{204123F4-F7D7-77F8-D839-0461A5A19E9A}"/>
                </a:ext>
              </a:extLst>
            </p:cNvPr>
            <p:cNvSpPr>
              <a:spLocks noChangeShapeType="1"/>
            </p:cNvSpPr>
            <p:nvPr/>
          </p:nvSpPr>
          <p:spPr bwMode="auto">
            <a:xfrm flipH="1" flipV="1">
              <a:off x="2200" y="3249"/>
              <a:ext cx="181" cy="363"/>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35" name="Text Box 14">
              <a:extLst>
                <a:ext uri="{FF2B5EF4-FFF2-40B4-BE49-F238E27FC236}">
                  <a16:creationId xmlns:a16="http://schemas.microsoft.com/office/drawing/2014/main" id="{1EA4E7A9-9926-15AF-AED6-2E296B7C9FF9}"/>
                </a:ext>
              </a:extLst>
            </p:cNvPr>
            <p:cNvSpPr txBox="1">
              <a:spLocks noChangeArrowheads="1"/>
            </p:cNvSpPr>
            <p:nvPr/>
          </p:nvSpPr>
          <p:spPr bwMode="auto">
            <a:xfrm>
              <a:off x="1973" y="3521"/>
              <a:ext cx="118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800">
                  <a:solidFill>
                    <a:srgbClr val="FF0000"/>
                  </a:solidFill>
                </a:rPr>
                <a:t>Amount of water in the air</a:t>
              </a:r>
            </a:p>
          </p:txBody>
        </p:sp>
      </p:grpSp>
      <p:sp>
        <p:nvSpPr>
          <p:cNvPr id="22533" name="Text Box 19">
            <a:extLst>
              <a:ext uri="{FF2B5EF4-FFF2-40B4-BE49-F238E27FC236}">
                <a16:creationId xmlns:a16="http://schemas.microsoft.com/office/drawing/2014/main" id="{81513A5A-4A79-AD7D-9047-CF41A91D1667}"/>
              </a:ext>
            </a:extLst>
          </p:cNvPr>
          <p:cNvSpPr txBox="1">
            <a:spLocks noChangeArrowheads="1"/>
          </p:cNvSpPr>
          <p:nvPr/>
        </p:nvSpPr>
        <p:spPr bwMode="auto">
          <a:xfrm>
            <a:off x="468313" y="1557338"/>
            <a:ext cx="4103687"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800"/>
              <a:t>As the air cools during the expansion, water vapour eventually condenses onto aerosol particles known as </a:t>
            </a:r>
            <a:r>
              <a:rPr lang="en-GB" altLang="en-US" sz="1800" b="1" i="1"/>
              <a:t>Cloud Condensation Nuclei</a:t>
            </a:r>
            <a:r>
              <a:rPr lang="en-GB" altLang="en-US" sz="1800"/>
              <a:t> (a type of small particle suspended in air) and forms a cloud</a:t>
            </a:r>
          </a:p>
          <a:p>
            <a:pPr>
              <a:spcBef>
                <a:spcPct val="50000"/>
              </a:spcBef>
              <a:buFontTx/>
              <a:buNone/>
            </a:pPr>
            <a:r>
              <a:rPr lang="en-GB" altLang="en-US" sz="1800"/>
              <a:t>Some small particles do not act as </a:t>
            </a:r>
            <a:r>
              <a:rPr lang="en-GB" altLang="en-US" sz="1800" b="1" i="1"/>
              <a:t>Cloud Condensation Nuclei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Picture 15" descr="animation2">
            <a:extLst>
              <a:ext uri="{FF2B5EF4-FFF2-40B4-BE49-F238E27FC236}">
                <a16:creationId xmlns:a16="http://schemas.microsoft.com/office/drawing/2014/main" id="{C7525848-3BE9-2CB2-D809-935D436F84C6}"/>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403350"/>
            <a:ext cx="10367963" cy="545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0" name="Rectangle 2">
            <a:extLst>
              <a:ext uri="{FF2B5EF4-FFF2-40B4-BE49-F238E27FC236}">
                <a16:creationId xmlns:a16="http://schemas.microsoft.com/office/drawing/2014/main" id="{73C44B45-4F3B-CB48-B88F-90E7A5F9D264}"/>
              </a:ext>
            </a:extLst>
          </p:cNvPr>
          <p:cNvSpPr>
            <a:spLocks noGrp="1" noChangeArrowheads="1"/>
          </p:cNvSpPr>
          <p:nvPr>
            <p:ph type="title"/>
          </p:nvPr>
        </p:nvSpPr>
        <p:spPr>
          <a:xfrm>
            <a:off x="-36513" y="-17463"/>
            <a:ext cx="9180513" cy="1143001"/>
          </a:xfrm>
          <a:solidFill>
            <a:srgbClr val="FFC000"/>
          </a:solidFill>
        </p:spPr>
        <p:txBody>
          <a:bodyPr/>
          <a:lstStyle/>
          <a:p>
            <a:pPr eaLnBrk="1" hangingPunct="1">
              <a:defRPr/>
            </a:pPr>
            <a:r>
              <a:rPr lang="en-GB" i="1" dirty="0">
                <a:solidFill>
                  <a:schemeClr val="bg1"/>
                </a:solidFill>
              </a:rPr>
              <a:t>Now consider aerosol particles</a:t>
            </a:r>
            <a:endParaRPr lang="en-GB" i="1" dirty="0">
              <a:solidFill>
                <a:schemeClr val="bg1"/>
              </a:solidFill>
              <a:cs typeface="+mj-cs"/>
            </a:endParaRPr>
          </a:p>
        </p:txBody>
      </p:sp>
      <p:grpSp>
        <p:nvGrpSpPr>
          <p:cNvPr id="23555" name="Group 10">
            <a:extLst>
              <a:ext uri="{FF2B5EF4-FFF2-40B4-BE49-F238E27FC236}">
                <a16:creationId xmlns:a16="http://schemas.microsoft.com/office/drawing/2014/main" id="{BE004C30-9F18-0EED-74C5-FFA5223B11AD}"/>
              </a:ext>
            </a:extLst>
          </p:cNvPr>
          <p:cNvGrpSpPr>
            <a:grpSpLocks/>
          </p:cNvGrpSpPr>
          <p:nvPr/>
        </p:nvGrpSpPr>
        <p:grpSpPr bwMode="auto">
          <a:xfrm>
            <a:off x="4859338" y="1268413"/>
            <a:ext cx="3673475" cy="1728787"/>
            <a:chOff x="3061" y="799"/>
            <a:chExt cx="2314" cy="1089"/>
          </a:xfrm>
        </p:grpSpPr>
        <p:sp>
          <p:nvSpPr>
            <p:cNvPr id="23560" name="Text Box 11">
              <a:extLst>
                <a:ext uri="{FF2B5EF4-FFF2-40B4-BE49-F238E27FC236}">
                  <a16:creationId xmlns:a16="http://schemas.microsoft.com/office/drawing/2014/main" id="{A42E8484-125D-9FC1-6156-B347604EA12B}"/>
                </a:ext>
              </a:extLst>
            </p:cNvPr>
            <p:cNvSpPr txBox="1">
              <a:spLocks noChangeArrowheads="1"/>
            </p:cNvSpPr>
            <p:nvPr/>
          </p:nvSpPr>
          <p:spPr bwMode="auto">
            <a:xfrm>
              <a:off x="3061" y="799"/>
              <a:ext cx="2314" cy="4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800"/>
                <a:t>Box with cloud condensation nuclei in it</a:t>
              </a:r>
            </a:p>
          </p:txBody>
        </p:sp>
        <p:sp>
          <p:nvSpPr>
            <p:cNvPr id="23561" name="Line 12">
              <a:extLst>
                <a:ext uri="{FF2B5EF4-FFF2-40B4-BE49-F238E27FC236}">
                  <a16:creationId xmlns:a16="http://schemas.microsoft.com/office/drawing/2014/main" id="{7F02832A-E2C2-25E1-07F5-3BA86D839C6E}"/>
                </a:ext>
              </a:extLst>
            </p:cNvPr>
            <p:cNvSpPr>
              <a:spLocks noChangeShapeType="1"/>
            </p:cNvSpPr>
            <p:nvPr/>
          </p:nvSpPr>
          <p:spPr bwMode="auto">
            <a:xfrm>
              <a:off x="3742" y="1207"/>
              <a:ext cx="181" cy="6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62" name="Line 13">
              <a:extLst>
                <a:ext uri="{FF2B5EF4-FFF2-40B4-BE49-F238E27FC236}">
                  <a16:creationId xmlns:a16="http://schemas.microsoft.com/office/drawing/2014/main" id="{65B97E6B-1C01-CF80-B2AE-6863B648FD3F}"/>
                </a:ext>
              </a:extLst>
            </p:cNvPr>
            <p:cNvSpPr>
              <a:spLocks noChangeShapeType="1"/>
            </p:cNvSpPr>
            <p:nvPr/>
          </p:nvSpPr>
          <p:spPr bwMode="auto">
            <a:xfrm>
              <a:off x="3969" y="1207"/>
              <a:ext cx="408" cy="68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3556" name="Group 16">
            <a:extLst>
              <a:ext uri="{FF2B5EF4-FFF2-40B4-BE49-F238E27FC236}">
                <a16:creationId xmlns:a16="http://schemas.microsoft.com/office/drawing/2014/main" id="{E46977F2-2DB2-364D-559F-4B7B261219D1}"/>
              </a:ext>
            </a:extLst>
          </p:cNvPr>
          <p:cNvGrpSpPr>
            <a:grpSpLocks/>
          </p:cNvGrpSpPr>
          <p:nvPr/>
        </p:nvGrpSpPr>
        <p:grpSpPr bwMode="auto">
          <a:xfrm>
            <a:off x="3132138" y="5157788"/>
            <a:ext cx="1873250" cy="1073150"/>
            <a:chOff x="1973" y="3249"/>
            <a:chExt cx="1180" cy="676"/>
          </a:xfrm>
        </p:grpSpPr>
        <p:sp>
          <p:nvSpPr>
            <p:cNvPr id="23558" name="Line 17">
              <a:extLst>
                <a:ext uri="{FF2B5EF4-FFF2-40B4-BE49-F238E27FC236}">
                  <a16:creationId xmlns:a16="http://schemas.microsoft.com/office/drawing/2014/main" id="{56204DA0-9AD5-1F9E-ECC7-850D7ED7AF87}"/>
                </a:ext>
              </a:extLst>
            </p:cNvPr>
            <p:cNvSpPr>
              <a:spLocks noChangeShapeType="1"/>
            </p:cNvSpPr>
            <p:nvPr/>
          </p:nvSpPr>
          <p:spPr bwMode="auto">
            <a:xfrm flipH="1" flipV="1">
              <a:off x="2200" y="3249"/>
              <a:ext cx="181" cy="363"/>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59" name="Text Box 18">
              <a:extLst>
                <a:ext uri="{FF2B5EF4-FFF2-40B4-BE49-F238E27FC236}">
                  <a16:creationId xmlns:a16="http://schemas.microsoft.com/office/drawing/2014/main" id="{7CD12288-48CD-7C28-BCD8-41AC149C2BDB}"/>
                </a:ext>
              </a:extLst>
            </p:cNvPr>
            <p:cNvSpPr txBox="1">
              <a:spLocks noChangeArrowheads="1"/>
            </p:cNvSpPr>
            <p:nvPr/>
          </p:nvSpPr>
          <p:spPr bwMode="auto">
            <a:xfrm>
              <a:off x="1973" y="3521"/>
              <a:ext cx="118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800">
                  <a:solidFill>
                    <a:srgbClr val="FF0000"/>
                  </a:solidFill>
                </a:rPr>
                <a:t>Amount of water in the air</a:t>
              </a:r>
            </a:p>
          </p:txBody>
        </p:sp>
      </p:grpSp>
      <p:sp>
        <p:nvSpPr>
          <p:cNvPr id="23557" name="Text Box 19">
            <a:extLst>
              <a:ext uri="{FF2B5EF4-FFF2-40B4-BE49-F238E27FC236}">
                <a16:creationId xmlns:a16="http://schemas.microsoft.com/office/drawing/2014/main" id="{F865D1FA-EFB1-A0EF-F489-29A7C62C5D0B}"/>
              </a:ext>
            </a:extLst>
          </p:cNvPr>
          <p:cNvSpPr txBox="1">
            <a:spLocks noChangeArrowheads="1"/>
          </p:cNvSpPr>
          <p:nvPr/>
        </p:nvSpPr>
        <p:spPr bwMode="auto">
          <a:xfrm>
            <a:off x="468313" y="1557338"/>
            <a:ext cx="4103687"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1800"/>
              <a:t>As the air cools during the expansion, water vapour eventually condenses onto aerosol particles known as </a:t>
            </a:r>
            <a:r>
              <a:rPr lang="en-GB" altLang="en-US" sz="1800" b="1" i="1"/>
              <a:t>Cloud Condensation Nuclei</a:t>
            </a:r>
            <a:r>
              <a:rPr lang="en-GB" altLang="en-US" sz="1800"/>
              <a:t> (a type of small particle suspended in air) and forms a cloud</a:t>
            </a:r>
          </a:p>
          <a:p>
            <a:pPr>
              <a:spcBef>
                <a:spcPct val="50000"/>
              </a:spcBef>
              <a:buFontTx/>
              <a:buNone/>
            </a:pPr>
            <a:r>
              <a:rPr lang="en-GB" altLang="en-US" sz="1800"/>
              <a:t>Some small particles do not act as </a:t>
            </a:r>
            <a:r>
              <a:rPr lang="en-GB" altLang="en-US" sz="1800" b="1" i="1"/>
              <a:t>Cloud Condensation Nuclei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7" name="Picture 2" descr="twomey_effect00">
            <a:extLst>
              <a:ext uri="{FF2B5EF4-FFF2-40B4-BE49-F238E27FC236}">
                <a16:creationId xmlns:a16="http://schemas.microsoft.com/office/drawing/2014/main" id="{3E891FC2-41E1-D4E9-3A41-AABC0F04BA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 y="646113"/>
            <a:ext cx="2736850" cy="681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8" name="Text Box 3">
            <a:extLst>
              <a:ext uri="{FF2B5EF4-FFF2-40B4-BE49-F238E27FC236}">
                <a16:creationId xmlns:a16="http://schemas.microsoft.com/office/drawing/2014/main" id="{B4C3F5C9-2E1B-A1BB-A7B8-380CBC0E9126}"/>
              </a:ext>
            </a:extLst>
          </p:cNvPr>
          <p:cNvSpPr txBox="1">
            <a:spLocks noChangeArrowheads="1"/>
          </p:cNvSpPr>
          <p:nvPr/>
        </p:nvSpPr>
        <p:spPr bwMode="auto">
          <a:xfrm rot="-5400000">
            <a:off x="-46831" y="3655219"/>
            <a:ext cx="2844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GB" altLang="en-US" sz="2800" b="1">
                <a:solidFill>
                  <a:srgbClr val="FFFF00"/>
                </a:solidFill>
              </a:rPr>
              <a:t>Ocean - blue</a:t>
            </a:r>
          </a:p>
        </p:txBody>
      </p:sp>
      <p:pic>
        <p:nvPicPr>
          <p:cNvPr id="24579" name="Picture 4" descr="twomey_effect01">
            <a:extLst>
              <a:ext uri="{FF2B5EF4-FFF2-40B4-BE49-F238E27FC236}">
                <a16:creationId xmlns:a16="http://schemas.microsoft.com/office/drawing/2014/main" id="{1B0E9167-7C43-AC25-9FAC-E55D23B39B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3888"/>
            <a:ext cx="2749550" cy="681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5" descr="twomey_effect02">
            <a:extLst>
              <a:ext uri="{FF2B5EF4-FFF2-40B4-BE49-F238E27FC236}">
                <a16:creationId xmlns:a16="http://schemas.microsoft.com/office/drawing/2014/main" id="{F9D85034-8D00-B88C-1E27-B8578742CB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2488" y="646113"/>
            <a:ext cx="2736850" cy="681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6" descr="twomey_effect03">
            <a:extLst>
              <a:ext uri="{FF2B5EF4-FFF2-40B4-BE49-F238E27FC236}">
                <a16:creationId xmlns:a16="http://schemas.microsoft.com/office/drawing/2014/main" id="{F7C14413-56BC-E774-4816-87DF0D1AC7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1638" y="646113"/>
            <a:ext cx="2755900" cy="681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Picture 7" descr="twomey_effect04">
            <a:extLst>
              <a:ext uri="{FF2B5EF4-FFF2-40B4-BE49-F238E27FC236}">
                <a16:creationId xmlns:a16="http://schemas.microsoft.com/office/drawing/2014/main" id="{59AD6418-2B7E-B231-D36B-3E9620EEC5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69038" y="646113"/>
            <a:ext cx="2767012" cy="681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0" name="Rectangle 8">
            <a:extLst>
              <a:ext uri="{FF2B5EF4-FFF2-40B4-BE49-F238E27FC236}">
                <a16:creationId xmlns:a16="http://schemas.microsoft.com/office/drawing/2014/main" id="{852F4DD4-C410-5B40-90EE-AE3C2739B6DC}"/>
              </a:ext>
            </a:extLst>
          </p:cNvPr>
          <p:cNvSpPr>
            <a:spLocks noGrp="1" noChangeArrowheads="1"/>
          </p:cNvSpPr>
          <p:nvPr>
            <p:ph type="title"/>
          </p:nvPr>
        </p:nvSpPr>
        <p:spPr>
          <a:xfrm>
            <a:off x="0" y="0"/>
            <a:ext cx="9144000" cy="1052513"/>
          </a:xfrm>
          <a:solidFill>
            <a:srgbClr val="FFC000"/>
          </a:solidFill>
        </p:spPr>
        <p:txBody>
          <a:bodyPr/>
          <a:lstStyle/>
          <a:p>
            <a:pPr eaLnBrk="1" hangingPunct="1">
              <a:defRPr/>
            </a:pPr>
            <a:r>
              <a:rPr lang="en-GB" sz="2700" dirty="0">
                <a:solidFill>
                  <a:schemeClr val="bg1"/>
                </a:solidFill>
                <a:cs typeface="+mj-cs"/>
              </a:rPr>
              <a:t>The number of cloud condensation nuclei is important to how much sun-light is reflected</a:t>
            </a:r>
            <a:br>
              <a:rPr lang="en-GB" sz="2700" dirty="0">
                <a:solidFill>
                  <a:schemeClr val="bg1"/>
                </a:solidFill>
                <a:cs typeface="+mj-cs"/>
              </a:rPr>
            </a:br>
            <a:r>
              <a:rPr lang="en-GB" sz="2000" dirty="0">
                <a:solidFill>
                  <a:schemeClr val="bg1"/>
                </a:solidFill>
                <a:cs typeface="+mj-cs"/>
              </a:rPr>
              <a:t>what do you notice?</a:t>
            </a:r>
          </a:p>
        </p:txBody>
      </p:sp>
      <p:sp>
        <p:nvSpPr>
          <p:cNvPr id="2" name="TextBox 1">
            <a:extLst>
              <a:ext uri="{FF2B5EF4-FFF2-40B4-BE49-F238E27FC236}">
                <a16:creationId xmlns:a16="http://schemas.microsoft.com/office/drawing/2014/main" id="{621C6CB0-E33B-3CDB-4D65-F7269815158D}"/>
              </a:ext>
            </a:extLst>
          </p:cNvPr>
          <p:cNvSpPr txBox="1">
            <a:spLocks noChangeArrowheads="1"/>
          </p:cNvSpPr>
          <p:nvPr/>
        </p:nvSpPr>
        <p:spPr bwMode="auto">
          <a:xfrm>
            <a:off x="395288" y="6300788"/>
            <a:ext cx="8280400" cy="368300"/>
          </a:xfrm>
          <a:prstGeom prst="rect">
            <a:avLst/>
          </a:prstGeom>
          <a:solidFill>
            <a:schemeClr val="bg1"/>
          </a:solidFill>
          <a:ln w="9525">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a:t>This gives rise to the 1</a:t>
            </a:r>
            <a:r>
              <a:rPr lang="en-US" altLang="en-US" sz="1800" baseline="30000"/>
              <a:t>st</a:t>
            </a:r>
            <a:r>
              <a:rPr lang="en-US" altLang="en-US" sz="1800"/>
              <a:t> indirect effect of aerosols on clouds (Twomey, 1989)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7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07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2" descr="C:\IDL-out\VOCALS\GOES10\waves\bt4_col\shiptracks.gif">
            <a:extLst>
              <a:ext uri="{FF2B5EF4-FFF2-40B4-BE49-F238E27FC236}">
                <a16:creationId xmlns:a16="http://schemas.microsoft.com/office/drawing/2014/main" id="{E9B616B2-264F-12E7-EB81-DD61EDDE1BDB}"/>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611188"/>
            <a:ext cx="6235700" cy="627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2" name="Rectangle 3">
            <a:extLst>
              <a:ext uri="{FF2B5EF4-FFF2-40B4-BE49-F238E27FC236}">
                <a16:creationId xmlns:a16="http://schemas.microsoft.com/office/drawing/2014/main" id="{0D28709F-DB25-ED3B-BA36-78266474FF55}"/>
              </a:ext>
            </a:extLst>
          </p:cNvPr>
          <p:cNvSpPr>
            <a:spLocks noGrp="1" noChangeArrowheads="1"/>
          </p:cNvSpPr>
          <p:nvPr>
            <p:ph type="title"/>
          </p:nvPr>
        </p:nvSpPr>
        <p:spPr>
          <a:xfrm>
            <a:off x="0" y="-26988"/>
            <a:ext cx="9144000" cy="981076"/>
          </a:xfrm>
          <a:solidFill>
            <a:srgbClr val="FFC000"/>
          </a:solidFill>
        </p:spPr>
        <p:txBody>
          <a:bodyPr/>
          <a:lstStyle/>
          <a:p>
            <a:pPr eaLnBrk="1" hangingPunct="1"/>
            <a:r>
              <a:rPr lang="en-GB" altLang="en-US" sz="3200">
                <a:solidFill>
                  <a:schemeClr val="bg1"/>
                </a:solidFill>
              </a:rPr>
              <a:t>Some observational analysis by our Centre</a:t>
            </a:r>
          </a:p>
        </p:txBody>
      </p:sp>
      <p:sp>
        <p:nvSpPr>
          <p:cNvPr id="25603" name="Slide Number Placeholder 5">
            <a:extLst>
              <a:ext uri="{FF2B5EF4-FFF2-40B4-BE49-F238E27FC236}">
                <a16:creationId xmlns:a16="http://schemas.microsoft.com/office/drawing/2014/main" id="{9E82A4B4-C7F5-1360-EC00-AD15AE1C9FE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3BB25E73-8C88-CF44-A0E3-AFB76BE9680D}" type="slidenum">
              <a:rPr lang="en-GB" altLang="en-US" sz="1400"/>
              <a:pPr>
                <a:spcBef>
                  <a:spcPct val="0"/>
                </a:spcBef>
                <a:buFontTx/>
                <a:buNone/>
              </a:pPr>
              <a:t>10</a:t>
            </a:fld>
            <a:endParaRPr lang="en-GB" altLang="en-US" sz="1400"/>
          </a:p>
        </p:txBody>
      </p:sp>
      <p:sp>
        <p:nvSpPr>
          <p:cNvPr id="25604" name="TextBox 1">
            <a:extLst>
              <a:ext uri="{FF2B5EF4-FFF2-40B4-BE49-F238E27FC236}">
                <a16:creationId xmlns:a16="http://schemas.microsoft.com/office/drawing/2014/main" id="{0B02298C-04E9-1D50-7541-9D7759D167F8}"/>
              </a:ext>
            </a:extLst>
          </p:cNvPr>
          <p:cNvSpPr txBox="1">
            <a:spLocks noChangeArrowheads="1"/>
          </p:cNvSpPr>
          <p:nvPr/>
        </p:nvSpPr>
        <p:spPr bwMode="auto">
          <a:xfrm>
            <a:off x="5148263" y="6524625"/>
            <a:ext cx="38941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a:t>slide courtesy of Prof. Grant Allen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2">
            <a:extLst>
              <a:ext uri="{FF2B5EF4-FFF2-40B4-BE49-F238E27FC236}">
                <a16:creationId xmlns:a16="http://schemas.microsoft.com/office/drawing/2014/main" id="{4874A91E-D7A7-6D28-41E7-1B570677A4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6975"/>
            <a:ext cx="3970338" cy="54721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6626" name="Rectangle 3">
            <a:extLst>
              <a:ext uri="{FF2B5EF4-FFF2-40B4-BE49-F238E27FC236}">
                <a16:creationId xmlns:a16="http://schemas.microsoft.com/office/drawing/2014/main" id="{7DCF3816-D6B6-532B-3B56-14CCF34B36A0}"/>
              </a:ext>
            </a:extLst>
          </p:cNvPr>
          <p:cNvSpPr>
            <a:spLocks noGrp="1" noChangeArrowheads="1"/>
          </p:cNvSpPr>
          <p:nvPr>
            <p:ph type="title"/>
          </p:nvPr>
        </p:nvSpPr>
        <p:spPr>
          <a:xfrm>
            <a:off x="0" y="0"/>
            <a:ext cx="9144000" cy="1042988"/>
          </a:xfrm>
          <a:solidFill>
            <a:srgbClr val="FFC000"/>
          </a:solidFill>
        </p:spPr>
        <p:txBody>
          <a:bodyPr/>
          <a:lstStyle/>
          <a:p>
            <a:pPr eaLnBrk="1" hangingPunct="1"/>
            <a:r>
              <a:rPr lang="en-GB" altLang="en-US" sz="4000">
                <a:solidFill>
                  <a:schemeClr val="bg1"/>
                </a:solidFill>
              </a:rPr>
              <a:t>Latham’s geoengineering scheme</a:t>
            </a:r>
            <a:br>
              <a:rPr lang="en-GB" altLang="en-US" sz="4000">
                <a:solidFill>
                  <a:schemeClr val="bg1"/>
                </a:solidFill>
              </a:rPr>
            </a:br>
            <a:r>
              <a:rPr lang="en-GB" altLang="en-US" sz="2800">
                <a:solidFill>
                  <a:schemeClr val="bg1"/>
                </a:solidFill>
              </a:rPr>
              <a:t>(a way of combating global warming?)</a:t>
            </a:r>
          </a:p>
        </p:txBody>
      </p:sp>
      <p:sp>
        <p:nvSpPr>
          <p:cNvPr id="26627" name="Rectangle 4">
            <a:extLst>
              <a:ext uri="{FF2B5EF4-FFF2-40B4-BE49-F238E27FC236}">
                <a16:creationId xmlns:a16="http://schemas.microsoft.com/office/drawing/2014/main" id="{087312FA-B6AF-687A-0412-7E30225A2BB1}"/>
              </a:ext>
            </a:extLst>
          </p:cNvPr>
          <p:cNvSpPr>
            <a:spLocks noGrp="1" noChangeArrowheads="1"/>
          </p:cNvSpPr>
          <p:nvPr>
            <p:ph type="body" idx="1"/>
          </p:nvPr>
        </p:nvSpPr>
        <p:spPr>
          <a:xfrm>
            <a:off x="3995738" y="1268413"/>
            <a:ext cx="5148262" cy="5473700"/>
          </a:xfrm>
        </p:spPr>
        <p:txBody>
          <a:bodyPr/>
          <a:lstStyle/>
          <a:p>
            <a:pPr eaLnBrk="1" hangingPunct="1">
              <a:buFontTx/>
              <a:buNone/>
            </a:pPr>
            <a:r>
              <a:rPr lang="en-GB" altLang="en-US" sz="2800" b="1" u="sng">
                <a:solidFill>
                  <a:srgbClr val="FF0000"/>
                </a:solidFill>
              </a:rPr>
              <a:t>Technique   </a:t>
            </a:r>
            <a:r>
              <a:rPr lang="en-GB" altLang="en-US" sz="2000" i="1" u="sng"/>
              <a:t>(Latham, Nature, 1990)</a:t>
            </a:r>
          </a:p>
          <a:p>
            <a:pPr eaLnBrk="1" hangingPunct="1">
              <a:buFontTx/>
              <a:buNone/>
            </a:pPr>
            <a:r>
              <a:rPr lang="en-GB" altLang="en-US" sz="2000"/>
              <a:t>To disseminate natural sea water droplets at ocean surface into the boundary layer.</a:t>
            </a:r>
          </a:p>
          <a:p>
            <a:pPr eaLnBrk="1" hangingPunct="1">
              <a:buFontTx/>
              <a:buNone/>
            </a:pPr>
            <a:r>
              <a:rPr lang="en-GB" altLang="en-US" sz="2000"/>
              <a:t>These drops evaporate and leave behind aerosol particles, which ascend via thermals and go into the cloud</a:t>
            </a:r>
          </a:p>
          <a:p>
            <a:pPr eaLnBrk="1" hangingPunct="1">
              <a:buFontTx/>
              <a:buNone/>
            </a:pPr>
            <a:r>
              <a:rPr lang="en-GB" altLang="en-US" sz="2000"/>
              <a:t>Switching off the sprayers returns to the status quo within a week or so.</a:t>
            </a:r>
          </a:p>
          <a:p>
            <a:pPr eaLnBrk="1" hangingPunct="1">
              <a:buFontTx/>
              <a:buNone/>
            </a:pPr>
            <a:r>
              <a:rPr lang="en-GB" altLang="en-US" sz="2800" b="1" u="sng">
                <a:solidFill>
                  <a:srgbClr val="FF0000"/>
                </a:solidFill>
              </a:rPr>
              <a:t>Support for idea</a:t>
            </a:r>
            <a:endParaRPr lang="en-GB" altLang="en-US" sz="2000" i="1" u="sng"/>
          </a:p>
          <a:p>
            <a:pPr eaLnBrk="1" hangingPunct="1"/>
            <a:r>
              <a:rPr lang="en-GB" altLang="en-US" sz="1800"/>
              <a:t>Natural droplet creation at ocean surface</a:t>
            </a:r>
          </a:p>
          <a:p>
            <a:pPr eaLnBrk="1" hangingPunct="1"/>
            <a:r>
              <a:rPr lang="en-GB" altLang="en-US" sz="1800"/>
              <a:t>NaCl drops are effective </a:t>
            </a:r>
            <a:r>
              <a:rPr lang="en-GB" altLang="en-US" sz="1800" i="1"/>
              <a:t>CCN</a:t>
            </a:r>
          </a:p>
          <a:p>
            <a:pPr eaLnBrk="1" hangingPunct="1"/>
            <a:endParaRPr lang="en-GB" altLang="en-US" sz="1800"/>
          </a:p>
          <a:p>
            <a:pPr eaLnBrk="1" hangingPunct="1"/>
            <a:r>
              <a:rPr lang="en-GB" altLang="en-US" sz="1800"/>
              <a:t>How does it work? As we will show, it depends a lot on the size of the aerosol particles. </a:t>
            </a:r>
          </a:p>
          <a:p>
            <a:pPr eaLnBrk="1" hangingPunct="1">
              <a:buFontTx/>
              <a:buNone/>
            </a:pPr>
            <a:endParaRPr lang="en-GB" altLang="en-US" sz="1800"/>
          </a:p>
        </p:txBody>
      </p:sp>
      <p:sp>
        <p:nvSpPr>
          <p:cNvPr id="26628" name="Slide Number Placeholder 6">
            <a:extLst>
              <a:ext uri="{FF2B5EF4-FFF2-40B4-BE49-F238E27FC236}">
                <a16:creationId xmlns:a16="http://schemas.microsoft.com/office/drawing/2014/main" id="{F22A08A9-B6E4-812E-A2FF-DEA1C5F4D4C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B5F4850E-EC02-E14D-8D60-D8ABC848F205}" type="slidenum">
              <a:rPr lang="en-GB" altLang="en-US" sz="1400"/>
              <a:pPr>
                <a:spcBef>
                  <a:spcPct val="0"/>
                </a:spcBef>
                <a:buFontTx/>
                <a:buNone/>
              </a:pPr>
              <a:t>11</a:t>
            </a:fld>
            <a:endParaRPr lang="en-GB" altLang="en-US"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6" descr="449px-Capillarity">
            <a:extLst>
              <a:ext uri="{FF2B5EF4-FFF2-40B4-BE49-F238E27FC236}">
                <a16:creationId xmlns:a16="http://schemas.microsoft.com/office/drawing/2014/main" id="{67FD5DDC-1FB0-42F9-CEF8-F0D3C638E9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0979"/>
          <a:stretch>
            <a:fillRect/>
          </a:stretch>
        </p:blipFill>
        <p:spPr bwMode="auto">
          <a:xfrm>
            <a:off x="1122363" y="1195388"/>
            <a:ext cx="6721475" cy="56530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7650" name="Rectangle 3">
            <a:extLst>
              <a:ext uri="{FF2B5EF4-FFF2-40B4-BE49-F238E27FC236}">
                <a16:creationId xmlns:a16="http://schemas.microsoft.com/office/drawing/2014/main" id="{8FF08DB0-6196-5839-470A-ECB47849E4C8}"/>
              </a:ext>
            </a:extLst>
          </p:cNvPr>
          <p:cNvSpPr>
            <a:spLocks noGrp="1" noChangeArrowheads="1"/>
          </p:cNvSpPr>
          <p:nvPr>
            <p:ph type="title"/>
          </p:nvPr>
        </p:nvSpPr>
        <p:spPr>
          <a:xfrm>
            <a:off x="0" y="0"/>
            <a:ext cx="9144000" cy="1143000"/>
          </a:xfrm>
          <a:solidFill>
            <a:srgbClr val="FF0000"/>
          </a:solidFill>
        </p:spPr>
        <p:txBody>
          <a:bodyPr/>
          <a:lstStyle/>
          <a:p>
            <a:pPr eaLnBrk="1" hangingPunct="1"/>
            <a:r>
              <a:rPr lang="en-GB" altLang="en-US">
                <a:solidFill>
                  <a:schemeClr val="bg1"/>
                </a:solidFill>
              </a:rPr>
              <a:t>`Capillary action</a:t>
            </a:r>
            <a:r>
              <a:rPr lang="ja-JP" altLang="en-GB">
                <a:solidFill>
                  <a:schemeClr val="bg1"/>
                </a:solidFill>
              </a:rPr>
              <a:t>’</a:t>
            </a:r>
            <a:r>
              <a:rPr lang="en-GB" altLang="ja-JP">
                <a:solidFill>
                  <a:schemeClr val="bg1"/>
                </a:solidFill>
              </a:rPr>
              <a:t> in pure water</a:t>
            </a:r>
            <a:endParaRPr lang="en-GB" altLang="en-US">
              <a:solidFill>
                <a:schemeClr val="bg1"/>
              </a:solidFill>
            </a:endParaRPr>
          </a:p>
        </p:txBody>
      </p:sp>
      <p:sp>
        <p:nvSpPr>
          <p:cNvPr id="27651" name="Text Box 8">
            <a:extLst>
              <a:ext uri="{FF2B5EF4-FFF2-40B4-BE49-F238E27FC236}">
                <a16:creationId xmlns:a16="http://schemas.microsoft.com/office/drawing/2014/main" id="{4D327996-7387-27AA-1F78-EC030D875ADA}"/>
              </a:ext>
            </a:extLst>
          </p:cNvPr>
          <p:cNvSpPr txBox="1">
            <a:spLocks noChangeArrowheads="1"/>
          </p:cNvSpPr>
          <p:nvPr/>
        </p:nvSpPr>
        <p:spPr bwMode="auto">
          <a:xfrm>
            <a:off x="1908175" y="4022725"/>
            <a:ext cx="2159000" cy="650875"/>
          </a:xfrm>
          <a:prstGeom prst="rect">
            <a:avLst/>
          </a:prstGeom>
          <a:solidFill>
            <a:schemeClr val="bg1"/>
          </a:solidFill>
          <a:ln w="9525">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GB" altLang="en-US" sz="1800"/>
              <a:t>A `wetting</a:t>
            </a:r>
            <a:r>
              <a:rPr lang="ja-JP" altLang="en-GB" sz="1800"/>
              <a:t>’</a:t>
            </a:r>
            <a:r>
              <a:rPr lang="en-GB" altLang="ja-JP" sz="1800"/>
              <a:t> tube negative curvature</a:t>
            </a:r>
            <a:endParaRPr lang="en-GB" altLang="en-US" sz="1800"/>
          </a:p>
        </p:txBody>
      </p:sp>
      <p:sp>
        <p:nvSpPr>
          <p:cNvPr id="27652" name="Text Box 9">
            <a:extLst>
              <a:ext uri="{FF2B5EF4-FFF2-40B4-BE49-F238E27FC236}">
                <a16:creationId xmlns:a16="http://schemas.microsoft.com/office/drawing/2014/main" id="{BB3006FF-ED18-F38E-15E1-C2DDACFDB51D}"/>
              </a:ext>
            </a:extLst>
          </p:cNvPr>
          <p:cNvSpPr txBox="1">
            <a:spLocks noChangeArrowheads="1"/>
          </p:cNvSpPr>
          <p:nvPr/>
        </p:nvSpPr>
        <p:spPr bwMode="auto">
          <a:xfrm>
            <a:off x="5292725" y="3894138"/>
            <a:ext cx="2159000" cy="925512"/>
          </a:xfrm>
          <a:prstGeom prst="rect">
            <a:avLst/>
          </a:prstGeom>
          <a:solidFill>
            <a:schemeClr val="bg1"/>
          </a:solidFill>
          <a:ln w="9525">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GB" altLang="en-US" sz="1800"/>
              <a:t>A `non-wetting</a:t>
            </a:r>
            <a:r>
              <a:rPr lang="ja-JP" altLang="en-GB" sz="1800"/>
              <a:t>’</a:t>
            </a:r>
            <a:r>
              <a:rPr lang="en-GB" altLang="ja-JP" sz="1800"/>
              <a:t> / hydrophobic tube positive curvature</a:t>
            </a:r>
            <a:endParaRPr lang="en-GB" alt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7">
            <a:extLst>
              <a:ext uri="{FF2B5EF4-FFF2-40B4-BE49-F238E27FC236}">
                <a16:creationId xmlns:a16="http://schemas.microsoft.com/office/drawing/2014/main" id="{9FA5E436-0AF1-FC9A-FA44-5E1E10AD6322}"/>
              </a:ext>
            </a:extLst>
          </p:cNvPr>
          <p:cNvSpPr>
            <a:spLocks noChangeArrowheads="1"/>
          </p:cNvSpPr>
          <p:nvPr/>
        </p:nvSpPr>
        <p:spPr bwMode="auto">
          <a:xfrm>
            <a:off x="612775" y="3860800"/>
            <a:ext cx="3311525" cy="71438"/>
          </a:xfrm>
          <a:prstGeom prst="rect">
            <a:avLst/>
          </a:prstGeom>
          <a:solidFill>
            <a:srgbClr val="0000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28674" name="Oval 26">
            <a:extLst>
              <a:ext uri="{FF2B5EF4-FFF2-40B4-BE49-F238E27FC236}">
                <a16:creationId xmlns:a16="http://schemas.microsoft.com/office/drawing/2014/main" id="{6493AE30-F85A-46D4-AAB9-5D5701947AED}"/>
              </a:ext>
            </a:extLst>
          </p:cNvPr>
          <p:cNvSpPr>
            <a:spLocks noChangeArrowheads="1"/>
          </p:cNvSpPr>
          <p:nvPr/>
        </p:nvSpPr>
        <p:spPr bwMode="auto">
          <a:xfrm>
            <a:off x="7021513" y="3357563"/>
            <a:ext cx="1439862" cy="1439862"/>
          </a:xfrm>
          <a:prstGeom prst="ellipse">
            <a:avLst/>
          </a:prstGeom>
          <a:solidFill>
            <a:srgbClr val="0000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28675" name="Rectangle 2">
            <a:extLst>
              <a:ext uri="{FF2B5EF4-FFF2-40B4-BE49-F238E27FC236}">
                <a16:creationId xmlns:a16="http://schemas.microsoft.com/office/drawing/2014/main" id="{D25EF420-71B7-81F7-D7B7-37CAFE2F8378}"/>
              </a:ext>
            </a:extLst>
          </p:cNvPr>
          <p:cNvSpPr>
            <a:spLocks noGrp="1" noChangeArrowheads="1"/>
          </p:cNvSpPr>
          <p:nvPr>
            <p:ph type="title"/>
          </p:nvPr>
        </p:nvSpPr>
        <p:spPr>
          <a:xfrm>
            <a:off x="-7938" y="0"/>
            <a:ext cx="9151938" cy="1143000"/>
          </a:xfrm>
          <a:solidFill>
            <a:srgbClr val="FF0000"/>
          </a:solidFill>
        </p:spPr>
        <p:txBody>
          <a:bodyPr/>
          <a:lstStyle/>
          <a:p>
            <a:pPr eaLnBrk="1" hangingPunct="1"/>
            <a:r>
              <a:rPr lang="en-GB" altLang="en-US" sz="4000">
                <a:solidFill>
                  <a:schemeClr val="bg1"/>
                </a:solidFill>
              </a:rPr>
              <a:t>Why is the vapour pressure over a curved surface higher than flat?</a:t>
            </a:r>
          </a:p>
        </p:txBody>
      </p:sp>
      <p:sp>
        <p:nvSpPr>
          <p:cNvPr id="28676" name="Oval 5">
            <a:extLst>
              <a:ext uri="{FF2B5EF4-FFF2-40B4-BE49-F238E27FC236}">
                <a16:creationId xmlns:a16="http://schemas.microsoft.com/office/drawing/2014/main" id="{80D59082-2A38-0F12-4CF3-71E34474D159}"/>
              </a:ext>
            </a:extLst>
          </p:cNvPr>
          <p:cNvSpPr>
            <a:spLocks noChangeArrowheads="1"/>
          </p:cNvSpPr>
          <p:nvPr/>
        </p:nvSpPr>
        <p:spPr bwMode="auto">
          <a:xfrm>
            <a:off x="7092950" y="3429000"/>
            <a:ext cx="1296988" cy="12969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28677" name="Rectangle 6">
            <a:extLst>
              <a:ext uri="{FF2B5EF4-FFF2-40B4-BE49-F238E27FC236}">
                <a16:creationId xmlns:a16="http://schemas.microsoft.com/office/drawing/2014/main" id="{C586B359-E215-103E-CB05-184FCD6B1F7D}"/>
              </a:ext>
            </a:extLst>
          </p:cNvPr>
          <p:cNvSpPr>
            <a:spLocks noChangeArrowheads="1"/>
          </p:cNvSpPr>
          <p:nvPr/>
        </p:nvSpPr>
        <p:spPr bwMode="auto">
          <a:xfrm>
            <a:off x="614363" y="3933825"/>
            <a:ext cx="3311525"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28678" name="Line 31">
            <a:extLst>
              <a:ext uri="{FF2B5EF4-FFF2-40B4-BE49-F238E27FC236}">
                <a16:creationId xmlns:a16="http://schemas.microsoft.com/office/drawing/2014/main" id="{0D7667E7-48CB-5B93-233D-43E250EA0539}"/>
              </a:ext>
            </a:extLst>
          </p:cNvPr>
          <p:cNvSpPr>
            <a:spLocks noChangeShapeType="1"/>
          </p:cNvSpPr>
          <p:nvPr/>
        </p:nvSpPr>
        <p:spPr bwMode="auto">
          <a:xfrm>
            <a:off x="7761288" y="3400425"/>
            <a:ext cx="503237"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79" name="Line 33">
            <a:extLst>
              <a:ext uri="{FF2B5EF4-FFF2-40B4-BE49-F238E27FC236}">
                <a16:creationId xmlns:a16="http://schemas.microsoft.com/office/drawing/2014/main" id="{0D32FEBC-E825-6ED4-B9AA-D2905A4ED86C}"/>
              </a:ext>
            </a:extLst>
          </p:cNvPr>
          <p:cNvSpPr>
            <a:spLocks noChangeShapeType="1"/>
          </p:cNvSpPr>
          <p:nvPr/>
        </p:nvSpPr>
        <p:spPr bwMode="auto">
          <a:xfrm>
            <a:off x="7761288" y="3429000"/>
            <a:ext cx="493712" cy="6191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0" name="Line 34">
            <a:extLst>
              <a:ext uri="{FF2B5EF4-FFF2-40B4-BE49-F238E27FC236}">
                <a16:creationId xmlns:a16="http://schemas.microsoft.com/office/drawing/2014/main" id="{291E8F33-D799-CFEE-C4D5-AF2797762492}"/>
              </a:ext>
            </a:extLst>
          </p:cNvPr>
          <p:cNvSpPr>
            <a:spLocks noChangeShapeType="1"/>
          </p:cNvSpPr>
          <p:nvPr/>
        </p:nvSpPr>
        <p:spPr bwMode="auto">
          <a:xfrm>
            <a:off x="7789863" y="3438525"/>
            <a:ext cx="431800" cy="1444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1" name="Line 35">
            <a:extLst>
              <a:ext uri="{FF2B5EF4-FFF2-40B4-BE49-F238E27FC236}">
                <a16:creationId xmlns:a16="http://schemas.microsoft.com/office/drawing/2014/main" id="{42F81D99-2FA8-C6FD-1461-E5FD1B9EDA67}"/>
              </a:ext>
            </a:extLst>
          </p:cNvPr>
          <p:cNvSpPr>
            <a:spLocks noChangeShapeType="1"/>
          </p:cNvSpPr>
          <p:nvPr/>
        </p:nvSpPr>
        <p:spPr bwMode="auto">
          <a:xfrm>
            <a:off x="7742238" y="3390900"/>
            <a:ext cx="431800" cy="2873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2" name="Line 36">
            <a:extLst>
              <a:ext uri="{FF2B5EF4-FFF2-40B4-BE49-F238E27FC236}">
                <a16:creationId xmlns:a16="http://schemas.microsoft.com/office/drawing/2014/main" id="{708EE5EF-6EA2-F022-2AF0-0B421D4045DD}"/>
              </a:ext>
            </a:extLst>
          </p:cNvPr>
          <p:cNvSpPr>
            <a:spLocks noChangeShapeType="1"/>
          </p:cNvSpPr>
          <p:nvPr/>
        </p:nvSpPr>
        <p:spPr bwMode="auto">
          <a:xfrm>
            <a:off x="7751763" y="3390900"/>
            <a:ext cx="358775"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3" name="Line 37">
            <a:extLst>
              <a:ext uri="{FF2B5EF4-FFF2-40B4-BE49-F238E27FC236}">
                <a16:creationId xmlns:a16="http://schemas.microsoft.com/office/drawing/2014/main" id="{4F3AECEB-ECAC-EF9A-B420-8BAEBC48B702}"/>
              </a:ext>
            </a:extLst>
          </p:cNvPr>
          <p:cNvSpPr>
            <a:spLocks noChangeShapeType="1"/>
          </p:cNvSpPr>
          <p:nvPr/>
        </p:nvSpPr>
        <p:spPr bwMode="auto">
          <a:xfrm>
            <a:off x="7789863" y="3438525"/>
            <a:ext cx="21590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4" name="Line 38">
            <a:extLst>
              <a:ext uri="{FF2B5EF4-FFF2-40B4-BE49-F238E27FC236}">
                <a16:creationId xmlns:a16="http://schemas.microsoft.com/office/drawing/2014/main" id="{179C16F9-F495-2010-D485-8584889EB2E9}"/>
              </a:ext>
            </a:extLst>
          </p:cNvPr>
          <p:cNvSpPr>
            <a:spLocks noChangeShapeType="1"/>
          </p:cNvSpPr>
          <p:nvPr/>
        </p:nvSpPr>
        <p:spPr bwMode="auto">
          <a:xfrm>
            <a:off x="7761288" y="3419475"/>
            <a:ext cx="142875"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5" name="Line 39">
            <a:extLst>
              <a:ext uri="{FF2B5EF4-FFF2-40B4-BE49-F238E27FC236}">
                <a16:creationId xmlns:a16="http://schemas.microsoft.com/office/drawing/2014/main" id="{F50BC358-2C7F-E665-EFEC-FCC245E21A70}"/>
              </a:ext>
            </a:extLst>
          </p:cNvPr>
          <p:cNvSpPr>
            <a:spLocks noChangeShapeType="1"/>
          </p:cNvSpPr>
          <p:nvPr/>
        </p:nvSpPr>
        <p:spPr bwMode="auto">
          <a:xfrm>
            <a:off x="7761288" y="3429000"/>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6" name="Line 48">
            <a:extLst>
              <a:ext uri="{FF2B5EF4-FFF2-40B4-BE49-F238E27FC236}">
                <a16:creationId xmlns:a16="http://schemas.microsoft.com/office/drawing/2014/main" id="{DFA0F01B-6C26-2169-FE94-170D897AC766}"/>
              </a:ext>
            </a:extLst>
          </p:cNvPr>
          <p:cNvSpPr>
            <a:spLocks noChangeShapeType="1"/>
          </p:cNvSpPr>
          <p:nvPr/>
        </p:nvSpPr>
        <p:spPr bwMode="auto">
          <a:xfrm flipH="1">
            <a:off x="7616825" y="3357563"/>
            <a:ext cx="144463" cy="5032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7" name="Line 49">
            <a:extLst>
              <a:ext uri="{FF2B5EF4-FFF2-40B4-BE49-F238E27FC236}">
                <a16:creationId xmlns:a16="http://schemas.microsoft.com/office/drawing/2014/main" id="{9456D432-AE81-E336-8930-335E45708B9C}"/>
              </a:ext>
            </a:extLst>
          </p:cNvPr>
          <p:cNvSpPr>
            <a:spLocks noChangeShapeType="1"/>
          </p:cNvSpPr>
          <p:nvPr/>
        </p:nvSpPr>
        <p:spPr bwMode="auto">
          <a:xfrm flipH="1">
            <a:off x="7510463" y="3443288"/>
            <a:ext cx="217487" cy="3603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8" name="Line 51">
            <a:extLst>
              <a:ext uri="{FF2B5EF4-FFF2-40B4-BE49-F238E27FC236}">
                <a16:creationId xmlns:a16="http://schemas.microsoft.com/office/drawing/2014/main" id="{143C1DDA-6C76-0816-283A-8AF0ED30FA61}"/>
              </a:ext>
            </a:extLst>
          </p:cNvPr>
          <p:cNvSpPr>
            <a:spLocks noChangeShapeType="1"/>
          </p:cNvSpPr>
          <p:nvPr/>
        </p:nvSpPr>
        <p:spPr bwMode="auto">
          <a:xfrm flipH="1">
            <a:off x="7429500" y="3338513"/>
            <a:ext cx="360363"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9" name="Line 54">
            <a:extLst>
              <a:ext uri="{FF2B5EF4-FFF2-40B4-BE49-F238E27FC236}">
                <a16:creationId xmlns:a16="http://schemas.microsoft.com/office/drawing/2014/main" id="{B32405B4-D8C2-FA82-7986-1438475779E9}"/>
              </a:ext>
            </a:extLst>
          </p:cNvPr>
          <p:cNvSpPr>
            <a:spLocks noChangeShapeType="1"/>
          </p:cNvSpPr>
          <p:nvPr/>
        </p:nvSpPr>
        <p:spPr bwMode="auto">
          <a:xfrm flipH="1">
            <a:off x="7346950" y="3348038"/>
            <a:ext cx="433388" cy="3587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0" name="Line 56">
            <a:extLst>
              <a:ext uri="{FF2B5EF4-FFF2-40B4-BE49-F238E27FC236}">
                <a16:creationId xmlns:a16="http://schemas.microsoft.com/office/drawing/2014/main" id="{0117C591-BCE4-B1B8-6A83-043620F737B2}"/>
              </a:ext>
            </a:extLst>
          </p:cNvPr>
          <p:cNvSpPr>
            <a:spLocks noChangeShapeType="1"/>
          </p:cNvSpPr>
          <p:nvPr/>
        </p:nvSpPr>
        <p:spPr bwMode="auto">
          <a:xfrm flipH="1">
            <a:off x="7299325" y="3386138"/>
            <a:ext cx="433388"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1" name="Line 57">
            <a:extLst>
              <a:ext uri="{FF2B5EF4-FFF2-40B4-BE49-F238E27FC236}">
                <a16:creationId xmlns:a16="http://schemas.microsoft.com/office/drawing/2014/main" id="{775A2750-9591-ECF9-A813-7FB10E4C4B0E}"/>
              </a:ext>
            </a:extLst>
          </p:cNvPr>
          <p:cNvSpPr>
            <a:spLocks noChangeShapeType="1"/>
          </p:cNvSpPr>
          <p:nvPr/>
        </p:nvSpPr>
        <p:spPr bwMode="auto">
          <a:xfrm flipH="1">
            <a:off x="7256463" y="3376613"/>
            <a:ext cx="504825" cy="1428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2" name="Line 58">
            <a:extLst>
              <a:ext uri="{FF2B5EF4-FFF2-40B4-BE49-F238E27FC236}">
                <a16:creationId xmlns:a16="http://schemas.microsoft.com/office/drawing/2014/main" id="{5A9C947F-2F4F-439C-D633-F8BE6D3A593B}"/>
              </a:ext>
            </a:extLst>
          </p:cNvPr>
          <p:cNvSpPr>
            <a:spLocks noChangeShapeType="1"/>
          </p:cNvSpPr>
          <p:nvPr/>
        </p:nvSpPr>
        <p:spPr bwMode="auto">
          <a:xfrm flipH="1">
            <a:off x="7246938" y="3395663"/>
            <a:ext cx="504825"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3" name="Oval 59">
            <a:extLst>
              <a:ext uri="{FF2B5EF4-FFF2-40B4-BE49-F238E27FC236}">
                <a16:creationId xmlns:a16="http://schemas.microsoft.com/office/drawing/2014/main" id="{02778F7D-391E-6372-FCE9-BB5DA0C07F0F}"/>
              </a:ext>
            </a:extLst>
          </p:cNvPr>
          <p:cNvSpPr>
            <a:spLocks noChangeArrowheads="1"/>
          </p:cNvSpPr>
          <p:nvPr/>
        </p:nvSpPr>
        <p:spPr bwMode="auto">
          <a:xfrm>
            <a:off x="2052638" y="3817938"/>
            <a:ext cx="144462" cy="144462"/>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28694" name="Line 60">
            <a:extLst>
              <a:ext uri="{FF2B5EF4-FFF2-40B4-BE49-F238E27FC236}">
                <a16:creationId xmlns:a16="http://schemas.microsoft.com/office/drawing/2014/main" id="{9BB7F51C-8185-CF6F-A273-CA32E38B29A2}"/>
              </a:ext>
            </a:extLst>
          </p:cNvPr>
          <p:cNvSpPr>
            <a:spLocks noChangeShapeType="1"/>
          </p:cNvSpPr>
          <p:nvPr/>
        </p:nvSpPr>
        <p:spPr bwMode="auto">
          <a:xfrm>
            <a:off x="2125663" y="3895725"/>
            <a:ext cx="5032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5" name="Line 61">
            <a:extLst>
              <a:ext uri="{FF2B5EF4-FFF2-40B4-BE49-F238E27FC236}">
                <a16:creationId xmlns:a16="http://schemas.microsoft.com/office/drawing/2014/main" id="{5831426D-7027-9713-2986-0E1CDE74238B}"/>
              </a:ext>
            </a:extLst>
          </p:cNvPr>
          <p:cNvSpPr>
            <a:spLocks noChangeShapeType="1"/>
          </p:cNvSpPr>
          <p:nvPr/>
        </p:nvSpPr>
        <p:spPr bwMode="auto">
          <a:xfrm>
            <a:off x="2125663" y="3924300"/>
            <a:ext cx="493712" cy="619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6" name="Line 62">
            <a:extLst>
              <a:ext uri="{FF2B5EF4-FFF2-40B4-BE49-F238E27FC236}">
                <a16:creationId xmlns:a16="http://schemas.microsoft.com/office/drawing/2014/main" id="{A255F46E-1550-EDD4-BE1E-8704A4919AFC}"/>
              </a:ext>
            </a:extLst>
          </p:cNvPr>
          <p:cNvSpPr>
            <a:spLocks noChangeShapeType="1"/>
          </p:cNvSpPr>
          <p:nvPr/>
        </p:nvSpPr>
        <p:spPr bwMode="auto">
          <a:xfrm>
            <a:off x="2154238" y="3933825"/>
            <a:ext cx="431800" cy="1444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7" name="Line 63">
            <a:extLst>
              <a:ext uri="{FF2B5EF4-FFF2-40B4-BE49-F238E27FC236}">
                <a16:creationId xmlns:a16="http://schemas.microsoft.com/office/drawing/2014/main" id="{ADD8BEE6-5B5C-3572-BCAF-BFC0A0D882F8}"/>
              </a:ext>
            </a:extLst>
          </p:cNvPr>
          <p:cNvSpPr>
            <a:spLocks noChangeShapeType="1"/>
          </p:cNvSpPr>
          <p:nvPr/>
        </p:nvSpPr>
        <p:spPr bwMode="auto">
          <a:xfrm>
            <a:off x="2106613" y="3886200"/>
            <a:ext cx="431800" cy="2873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8" name="Line 64">
            <a:extLst>
              <a:ext uri="{FF2B5EF4-FFF2-40B4-BE49-F238E27FC236}">
                <a16:creationId xmlns:a16="http://schemas.microsoft.com/office/drawing/2014/main" id="{7ED668C8-7117-D7C8-371C-C6A1E843FA08}"/>
              </a:ext>
            </a:extLst>
          </p:cNvPr>
          <p:cNvSpPr>
            <a:spLocks noChangeShapeType="1"/>
          </p:cNvSpPr>
          <p:nvPr/>
        </p:nvSpPr>
        <p:spPr bwMode="auto">
          <a:xfrm>
            <a:off x="2116138" y="3886200"/>
            <a:ext cx="358775"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9" name="Line 65">
            <a:extLst>
              <a:ext uri="{FF2B5EF4-FFF2-40B4-BE49-F238E27FC236}">
                <a16:creationId xmlns:a16="http://schemas.microsoft.com/office/drawing/2014/main" id="{77390D1A-C38C-2BE0-8921-D24D2D2C15FE}"/>
              </a:ext>
            </a:extLst>
          </p:cNvPr>
          <p:cNvSpPr>
            <a:spLocks noChangeShapeType="1"/>
          </p:cNvSpPr>
          <p:nvPr/>
        </p:nvSpPr>
        <p:spPr bwMode="auto">
          <a:xfrm>
            <a:off x="2154238" y="3933825"/>
            <a:ext cx="21590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00" name="Line 66">
            <a:extLst>
              <a:ext uri="{FF2B5EF4-FFF2-40B4-BE49-F238E27FC236}">
                <a16:creationId xmlns:a16="http://schemas.microsoft.com/office/drawing/2014/main" id="{4B9BE40E-0DF5-293F-3565-5C814CE5A046}"/>
              </a:ext>
            </a:extLst>
          </p:cNvPr>
          <p:cNvSpPr>
            <a:spLocks noChangeShapeType="1"/>
          </p:cNvSpPr>
          <p:nvPr/>
        </p:nvSpPr>
        <p:spPr bwMode="auto">
          <a:xfrm>
            <a:off x="2125663" y="3914775"/>
            <a:ext cx="142875"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01" name="Line 67">
            <a:extLst>
              <a:ext uri="{FF2B5EF4-FFF2-40B4-BE49-F238E27FC236}">
                <a16:creationId xmlns:a16="http://schemas.microsoft.com/office/drawing/2014/main" id="{A4CAE32E-C444-804F-2899-D545AAE20410}"/>
              </a:ext>
            </a:extLst>
          </p:cNvPr>
          <p:cNvSpPr>
            <a:spLocks noChangeShapeType="1"/>
          </p:cNvSpPr>
          <p:nvPr/>
        </p:nvSpPr>
        <p:spPr bwMode="auto">
          <a:xfrm>
            <a:off x="2125663" y="3924300"/>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02" name="Line 68">
            <a:extLst>
              <a:ext uri="{FF2B5EF4-FFF2-40B4-BE49-F238E27FC236}">
                <a16:creationId xmlns:a16="http://schemas.microsoft.com/office/drawing/2014/main" id="{8CFD2C73-8466-55F2-5216-D9C93CEA49E9}"/>
              </a:ext>
            </a:extLst>
          </p:cNvPr>
          <p:cNvSpPr>
            <a:spLocks noChangeShapeType="1"/>
          </p:cNvSpPr>
          <p:nvPr/>
        </p:nvSpPr>
        <p:spPr bwMode="auto">
          <a:xfrm flipH="1">
            <a:off x="1981200" y="3852863"/>
            <a:ext cx="144463" cy="5032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03" name="Line 69">
            <a:extLst>
              <a:ext uri="{FF2B5EF4-FFF2-40B4-BE49-F238E27FC236}">
                <a16:creationId xmlns:a16="http://schemas.microsoft.com/office/drawing/2014/main" id="{A6D727B9-25AE-7220-9FC0-7C1D6C17F875}"/>
              </a:ext>
            </a:extLst>
          </p:cNvPr>
          <p:cNvSpPr>
            <a:spLocks noChangeShapeType="1"/>
          </p:cNvSpPr>
          <p:nvPr/>
        </p:nvSpPr>
        <p:spPr bwMode="auto">
          <a:xfrm flipH="1">
            <a:off x="1874838" y="3938588"/>
            <a:ext cx="217487" cy="3603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04" name="Line 70">
            <a:extLst>
              <a:ext uri="{FF2B5EF4-FFF2-40B4-BE49-F238E27FC236}">
                <a16:creationId xmlns:a16="http://schemas.microsoft.com/office/drawing/2014/main" id="{00583451-2B1A-E766-E234-5876A1E3F774}"/>
              </a:ext>
            </a:extLst>
          </p:cNvPr>
          <p:cNvSpPr>
            <a:spLocks noChangeShapeType="1"/>
          </p:cNvSpPr>
          <p:nvPr/>
        </p:nvSpPr>
        <p:spPr bwMode="auto">
          <a:xfrm flipH="1">
            <a:off x="1793875" y="3833813"/>
            <a:ext cx="360363"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05" name="Line 71">
            <a:extLst>
              <a:ext uri="{FF2B5EF4-FFF2-40B4-BE49-F238E27FC236}">
                <a16:creationId xmlns:a16="http://schemas.microsoft.com/office/drawing/2014/main" id="{5F1DE5BE-8FD8-19A9-BF68-7B1CCA2802E7}"/>
              </a:ext>
            </a:extLst>
          </p:cNvPr>
          <p:cNvSpPr>
            <a:spLocks noChangeShapeType="1"/>
          </p:cNvSpPr>
          <p:nvPr/>
        </p:nvSpPr>
        <p:spPr bwMode="auto">
          <a:xfrm flipH="1">
            <a:off x="1711325" y="3843338"/>
            <a:ext cx="433388" cy="3587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06" name="Line 72">
            <a:extLst>
              <a:ext uri="{FF2B5EF4-FFF2-40B4-BE49-F238E27FC236}">
                <a16:creationId xmlns:a16="http://schemas.microsoft.com/office/drawing/2014/main" id="{820F3C2E-9ABE-77BD-85EC-E9D10B70AB07}"/>
              </a:ext>
            </a:extLst>
          </p:cNvPr>
          <p:cNvSpPr>
            <a:spLocks noChangeShapeType="1"/>
          </p:cNvSpPr>
          <p:nvPr/>
        </p:nvSpPr>
        <p:spPr bwMode="auto">
          <a:xfrm flipH="1">
            <a:off x="1663700" y="3881438"/>
            <a:ext cx="433388"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07" name="Line 73">
            <a:extLst>
              <a:ext uri="{FF2B5EF4-FFF2-40B4-BE49-F238E27FC236}">
                <a16:creationId xmlns:a16="http://schemas.microsoft.com/office/drawing/2014/main" id="{AE9FDF11-C974-08CF-6CF0-0AFEDE701D72}"/>
              </a:ext>
            </a:extLst>
          </p:cNvPr>
          <p:cNvSpPr>
            <a:spLocks noChangeShapeType="1"/>
          </p:cNvSpPr>
          <p:nvPr/>
        </p:nvSpPr>
        <p:spPr bwMode="auto">
          <a:xfrm flipH="1">
            <a:off x="1620838" y="3871913"/>
            <a:ext cx="504825" cy="142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08" name="Line 74">
            <a:extLst>
              <a:ext uri="{FF2B5EF4-FFF2-40B4-BE49-F238E27FC236}">
                <a16:creationId xmlns:a16="http://schemas.microsoft.com/office/drawing/2014/main" id="{753E287B-C28A-D96C-D934-F3440E3C93CF}"/>
              </a:ext>
            </a:extLst>
          </p:cNvPr>
          <p:cNvSpPr>
            <a:spLocks noChangeShapeType="1"/>
          </p:cNvSpPr>
          <p:nvPr/>
        </p:nvSpPr>
        <p:spPr bwMode="auto">
          <a:xfrm flipH="1">
            <a:off x="1611313" y="3890963"/>
            <a:ext cx="5048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09" name="Oval 7">
            <a:extLst>
              <a:ext uri="{FF2B5EF4-FFF2-40B4-BE49-F238E27FC236}">
                <a16:creationId xmlns:a16="http://schemas.microsoft.com/office/drawing/2014/main" id="{93F3133C-EDD7-035F-5866-6751F263C26E}"/>
              </a:ext>
            </a:extLst>
          </p:cNvPr>
          <p:cNvSpPr>
            <a:spLocks noChangeArrowheads="1"/>
          </p:cNvSpPr>
          <p:nvPr/>
        </p:nvSpPr>
        <p:spPr bwMode="auto">
          <a:xfrm>
            <a:off x="7688263" y="3322638"/>
            <a:ext cx="144462" cy="144462"/>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28710" name="Text Box 75">
            <a:extLst>
              <a:ext uri="{FF2B5EF4-FFF2-40B4-BE49-F238E27FC236}">
                <a16:creationId xmlns:a16="http://schemas.microsoft.com/office/drawing/2014/main" id="{DE481242-953E-669F-562F-256205D1F0A0}"/>
              </a:ext>
            </a:extLst>
          </p:cNvPr>
          <p:cNvSpPr txBox="1">
            <a:spLocks noChangeArrowheads="1"/>
          </p:cNvSpPr>
          <p:nvPr/>
        </p:nvSpPr>
        <p:spPr bwMode="auto">
          <a:xfrm>
            <a:off x="107950" y="2571750"/>
            <a:ext cx="4824413"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GB" altLang="en-US" sz="1800" b="1"/>
              <a:t>Flat surface:</a:t>
            </a:r>
            <a:r>
              <a:rPr lang="en-GB" altLang="en-US" sz="1800"/>
              <a:t> intermolecular forces act over one hemisphere; hence, molecules thermal energy needs a low vapour pressure from above to stop it escaping</a:t>
            </a:r>
          </a:p>
        </p:txBody>
      </p:sp>
      <p:sp>
        <p:nvSpPr>
          <p:cNvPr id="28711" name="Text Box 76">
            <a:extLst>
              <a:ext uri="{FF2B5EF4-FFF2-40B4-BE49-F238E27FC236}">
                <a16:creationId xmlns:a16="http://schemas.microsoft.com/office/drawing/2014/main" id="{28082E15-0DFE-D5A0-91BF-0CBF44E0E242}"/>
              </a:ext>
            </a:extLst>
          </p:cNvPr>
          <p:cNvSpPr txBox="1">
            <a:spLocks noChangeArrowheads="1"/>
          </p:cNvSpPr>
          <p:nvPr/>
        </p:nvSpPr>
        <p:spPr bwMode="auto">
          <a:xfrm>
            <a:off x="5508625" y="1833563"/>
            <a:ext cx="3563938"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GB" altLang="en-US" sz="1800" b="1"/>
              <a:t>Curved surface:</a:t>
            </a:r>
            <a:r>
              <a:rPr lang="en-GB" altLang="en-US" sz="1800"/>
              <a:t> intermolecular forces from adjacent molecules (long range) are missing; hence, net force normal to surface is less; hence high vapour pressure needed</a:t>
            </a:r>
          </a:p>
        </p:txBody>
      </p:sp>
      <p:sp>
        <p:nvSpPr>
          <p:cNvPr id="28712" name="TextBox 3">
            <a:extLst>
              <a:ext uri="{FF2B5EF4-FFF2-40B4-BE49-F238E27FC236}">
                <a16:creationId xmlns:a16="http://schemas.microsoft.com/office/drawing/2014/main" id="{C21C393F-A82F-EDE3-CC6E-68217C9C4BEF}"/>
              </a:ext>
            </a:extLst>
          </p:cNvPr>
          <p:cNvSpPr txBox="1">
            <a:spLocks noChangeArrowheads="1"/>
          </p:cNvSpPr>
          <p:nvPr/>
        </p:nvSpPr>
        <p:spPr bwMode="auto">
          <a:xfrm>
            <a:off x="2154238" y="5449888"/>
            <a:ext cx="47831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a:t>There is some theory that allows us to calculate the ratio of water vapour pressure between a curved and flat surface…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5E7E15BE-2546-9C72-D01E-E9EF583B87CD}"/>
              </a:ext>
            </a:extLst>
          </p:cNvPr>
          <p:cNvSpPr>
            <a:spLocks noGrp="1" noChangeArrowheads="1"/>
          </p:cNvSpPr>
          <p:nvPr>
            <p:ph type="title"/>
          </p:nvPr>
        </p:nvSpPr>
        <p:spPr>
          <a:xfrm>
            <a:off x="0" y="6350"/>
            <a:ext cx="9144000" cy="901700"/>
          </a:xfrm>
          <a:solidFill>
            <a:srgbClr val="FF0000"/>
          </a:solidFill>
        </p:spPr>
        <p:txBody>
          <a:bodyPr/>
          <a:lstStyle/>
          <a:p>
            <a:pPr eaLnBrk="1" hangingPunct="1"/>
            <a:r>
              <a:rPr lang="en-GB" altLang="en-US" sz="4000">
                <a:solidFill>
                  <a:schemeClr val="bg1"/>
                </a:solidFill>
              </a:rPr>
              <a:t>Kelvin’s equation</a:t>
            </a:r>
            <a:br>
              <a:rPr lang="en-GB" altLang="en-US" sz="4000">
                <a:solidFill>
                  <a:schemeClr val="bg1"/>
                </a:solidFill>
              </a:rPr>
            </a:br>
            <a:r>
              <a:rPr lang="en-GB" altLang="en-US" sz="1600">
                <a:solidFill>
                  <a:schemeClr val="bg1"/>
                </a:solidFill>
              </a:rPr>
              <a:t>used to calculate the equilibrium vapour pressure over a water drop </a:t>
            </a:r>
          </a:p>
        </p:txBody>
      </p:sp>
      <p:sp>
        <p:nvSpPr>
          <p:cNvPr id="29698" name="Rectangle 3">
            <a:extLst>
              <a:ext uri="{FF2B5EF4-FFF2-40B4-BE49-F238E27FC236}">
                <a16:creationId xmlns:a16="http://schemas.microsoft.com/office/drawing/2014/main" id="{42BFDE8A-FCB7-E9DD-AF48-69CDA3A97258}"/>
              </a:ext>
            </a:extLst>
          </p:cNvPr>
          <p:cNvSpPr>
            <a:spLocks noGrp="1" noChangeArrowheads="1"/>
          </p:cNvSpPr>
          <p:nvPr>
            <p:ph type="body" idx="1"/>
          </p:nvPr>
        </p:nvSpPr>
        <p:spPr>
          <a:xfrm>
            <a:off x="457200" y="4365625"/>
            <a:ext cx="8229600" cy="1760538"/>
          </a:xfrm>
        </p:spPr>
        <p:txBody>
          <a:bodyPr/>
          <a:lstStyle/>
          <a:p>
            <a:pPr eaLnBrk="1" hangingPunct="1">
              <a:lnSpc>
                <a:spcPct val="90000"/>
              </a:lnSpc>
            </a:pPr>
            <a:r>
              <a:rPr lang="en-GB" altLang="en-US" sz="2800"/>
              <a:t>In the atmosphere, e</a:t>
            </a:r>
            <a:r>
              <a:rPr lang="en-GB" altLang="en-US" sz="2800" baseline="-25000"/>
              <a:t>v</a:t>
            </a:r>
            <a:r>
              <a:rPr lang="en-GB" altLang="en-US" sz="2800"/>
              <a:t>/e</a:t>
            </a:r>
            <a:r>
              <a:rPr lang="en-GB" altLang="en-US" sz="2800" baseline="-25000"/>
              <a:t>0</a:t>
            </a:r>
            <a:r>
              <a:rPr lang="en-GB" altLang="en-US" sz="2800"/>
              <a:t> rarely exceeds 102% (e</a:t>
            </a:r>
            <a:r>
              <a:rPr lang="en-GB" altLang="en-US" sz="2800" baseline="-25000"/>
              <a:t>v</a:t>
            </a:r>
            <a:r>
              <a:rPr lang="en-GB" altLang="en-US" sz="2800"/>
              <a:t>/e</a:t>
            </a:r>
            <a:r>
              <a:rPr lang="en-GB" altLang="en-US" sz="2800" baseline="-25000"/>
              <a:t>0</a:t>
            </a:r>
            <a:r>
              <a:rPr lang="en-GB" altLang="en-US" sz="2800"/>
              <a:t>=1.02)</a:t>
            </a:r>
          </a:p>
          <a:p>
            <a:pPr eaLnBrk="1" hangingPunct="1">
              <a:lnSpc>
                <a:spcPct val="90000"/>
              </a:lnSpc>
            </a:pPr>
            <a:r>
              <a:rPr lang="en-GB" altLang="en-US" sz="2800"/>
              <a:t>Hence aerosols with dry size radius smaller than about 50 nm are not effective CCN</a:t>
            </a:r>
            <a:endParaRPr lang="en-GB" altLang="en-US" sz="2800" baseline="-25000"/>
          </a:p>
        </p:txBody>
      </p:sp>
      <p:pic>
        <p:nvPicPr>
          <p:cNvPr id="29699" name="Picture 4">
            <a:extLst>
              <a:ext uri="{FF2B5EF4-FFF2-40B4-BE49-F238E27FC236}">
                <a16:creationId xmlns:a16="http://schemas.microsoft.com/office/drawing/2014/main" id="{70420E80-19C0-69F8-A717-D1F3D206D5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72939" r="32150"/>
          <a:stretch>
            <a:fillRect/>
          </a:stretch>
        </p:blipFill>
        <p:spPr bwMode="auto">
          <a:xfrm>
            <a:off x="2771775" y="3141663"/>
            <a:ext cx="5873750"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Picture 6" descr="250px-Lord_Kelvin_photograph">
            <a:extLst>
              <a:ext uri="{FF2B5EF4-FFF2-40B4-BE49-F238E27FC236}">
                <a16:creationId xmlns:a16="http://schemas.microsoft.com/office/drawing/2014/main" id="{711A8094-92B6-A7FE-64A7-C1BA6D5C18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268413"/>
            <a:ext cx="2381250"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Text Box 7">
            <a:extLst>
              <a:ext uri="{FF2B5EF4-FFF2-40B4-BE49-F238E27FC236}">
                <a16:creationId xmlns:a16="http://schemas.microsoft.com/office/drawing/2014/main" id="{2FD10722-EC12-C75F-74B5-890035C25CE7}"/>
              </a:ext>
            </a:extLst>
          </p:cNvPr>
          <p:cNvSpPr txBox="1">
            <a:spLocks noChangeArrowheads="1"/>
          </p:cNvSpPr>
          <p:nvPr/>
        </p:nvSpPr>
        <p:spPr bwMode="auto">
          <a:xfrm>
            <a:off x="179388" y="836613"/>
            <a:ext cx="2663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GB" altLang="en-US" sz="1800"/>
              <a:t>Lord Kelvin (1824-1907)</a:t>
            </a:r>
          </a:p>
        </p:txBody>
      </p:sp>
      <p:pic>
        <p:nvPicPr>
          <p:cNvPr id="29702" name="Picture 2">
            <a:extLst>
              <a:ext uri="{FF2B5EF4-FFF2-40B4-BE49-F238E27FC236}">
                <a16:creationId xmlns:a16="http://schemas.microsoft.com/office/drawing/2014/main" id="{E4AC8843-26F3-63EE-7DB8-C82FE3AE7D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9800" y="1358900"/>
            <a:ext cx="44577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8ECF3AC3-531E-5C96-D602-67C38884A220}"/>
              </a:ext>
            </a:extLst>
          </p:cNvPr>
          <p:cNvSpPr txBox="1"/>
          <p:nvPr/>
        </p:nvSpPr>
        <p:spPr>
          <a:xfrm>
            <a:off x="3635896" y="6122988"/>
            <a:ext cx="5213287" cy="646331"/>
          </a:xfrm>
          <a:prstGeom prst="rect">
            <a:avLst/>
          </a:prstGeom>
          <a:noFill/>
        </p:spPr>
        <p:txBody>
          <a:bodyPr wrap="none" rtlCol="0">
            <a:spAutoFit/>
          </a:bodyPr>
          <a:lstStyle/>
          <a:p>
            <a:r>
              <a:rPr lang="en-US" i="1" dirty="0"/>
              <a:t>e</a:t>
            </a:r>
            <a:r>
              <a:rPr lang="en-US" i="1" baseline="-25000" dirty="0"/>
              <a:t>0</a:t>
            </a:r>
            <a:r>
              <a:rPr lang="en-US" dirty="0"/>
              <a:t> = equilibrium </a:t>
            </a:r>
            <a:r>
              <a:rPr lang="en-US" dirty="0" err="1"/>
              <a:t>vapour</a:t>
            </a:r>
            <a:r>
              <a:rPr lang="en-US" dirty="0"/>
              <a:t> pressure over flat surface</a:t>
            </a:r>
            <a:endParaRPr lang="en-US" i="1" dirty="0"/>
          </a:p>
          <a:p>
            <a:r>
              <a:rPr lang="en-US" i="1" dirty="0" err="1"/>
              <a:t>e</a:t>
            </a:r>
            <a:r>
              <a:rPr lang="en-US" i="1" baseline="-25000" dirty="0" err="1"/>
              <a:t>v</a:t>
            </a:r>
            <a:r>
              <a:rPr lang="en-US" dirty="0"/>
              <a:t> = equilibrium </a:t>
            </a:r>
            <a:r>
              <a:rPr lang="en-US" dirty="0" err="1"/>
              <a:t>vapour</a:t>
            </a:r>
            <a:r>
              <a:rPr lang="en-US" dirty="0"/>
              <a:t> pressure over a drop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2" descr="James_Clerk_Maxwell">
            <a:extLst>
              <a:ext uri="{FF2B5EF4-FFF2-40B4-BE49-F238E27FC236}">
                <a16:creationId xmlns:a16="http://schemas.microsoft.com/office/drawing/2014/main" id="{06237830-15F7-5C38-8B6B-5319642E61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588" y="479425"/>
            <a:ext cx="1855787" cy="223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2" name="Rectangle 3">
            <a:extLst>
              <a:ext uri="{FF2B5EF4-FFF2-40B4-BE49-F238E27FC236}">
                <a16:creationId xmlns:a16="http://schemas.microsoft.com/office/drawing/2014/main" id="{C1BD276A-264A-FC39-69B5-24C1EBF32C40}"/>
              </a:ext>
            </a:extLst>
          </p:cNvPr>
          <p:cNvSpPr>
            <a:spLocks noChangeArrowheads="1"/>
          </p:cNvSpPr>
          <p:nvPr/>
        </p:nvSpPr>
        <p:spPr bwMode="auto">
          <a:xfrm>
            <a:off x="6388100" y="2760663"/>
            <a:ext cx="25447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GB" altLang="en-US" sz="1200"/>
              <a:t>James Clerk Maxwell (1831–1879)</a:t>
            </a:r>
          </a:p>
        </p:txBody>
      </p:sp>
      <p:sp>
        <p:nvSpPr>
          <p:cNvPr id="30723" name="Text Box 4">
            <a:extLst>
              <a:ext uri="{FF2B5EF4-FFF2-40B4-BE49-F238E27FC236}">
                <a16:creationId xmlns:a16="http://schemas.microsoft.com/office/drawing/2014/main" id="{EC518F43-57AE-010A-8F0B-991743234488}"/>
              </a:ext>
            </a:extLst>
          </p:cNvPr>
          <p:cNvSpPr txBox="1">
            <a:spLocks noChangeArrowheads="1"/>
          </p:cNvSpPr>
          <p:nvPr/>
        </p:nvSpPr>
        <p:spPr bwMode="auto">
          <a:xfrm>
            <a:off x="179388" y="477838"/>
            <a:ext cx="5662612" cy="355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GB" altLang="en-US" sz="1800"/>
              <a:t>Among his many achievements (e.g. Electromagnetic theory, 1864), Maxwell (1870) was the first to combine the laws of diffusion of mass and heat to write down the particle growth equations in the continuum regime</a:t>
            </a:r>
          </a:p>
          <a:p>
            <a:pPr eaLnBrk="1" hangingPunct="1">
              <a:spcBef>
                <a:spcPct val="50000"/>
              </a:spcBef>
              <a:buFontTx/>
              <a:buNone/>
            </a:pPr>
            <a:r>
              <a:rPr lang="en-GB" altLang="en-US" sz="1800"/>
              <a:t>For liquid water to condense onto aerosol particles the </a:t>
            </a:r>
            <a:r>
              <a:rPr lang="en-GB" altLang="en-US" sz="1800" b="1" u="sng"/>
              <a:t>actual</a:t>
            </a:r>
            <a:r>
              <a:rPr lang="en-GB" altLang="en-US" sz="1800"/>
              <a:t> water vapour pressure must be higher than the </a:t>
            </a:r>
            <a:r>
              <a:rPr lang="en-GB" altLang="en-US" sz="1800" b="1" u="sng"/>
              <a:t>equilibrium</a:t>
            </a:r>
            <a:r>
              <a:rPr lang="en-GB" altLang="en-US" sz="1800"/>
              <a:t> vapour pressure.</a:t>
            </a:r>
          </a:p>
          <a:p>
            <a:pPr eaLnBrk="1" hangingPunct="1">
              <a:spcBef>
                <a:spcPct val="50000"/>
              </a:spcBef>
              <a:buFontTx/>
              <a:buNone/>
            </a:pPr>
            <a:r>
              <a:rPr lang="en-GB" altLang="en-US" sz="1800"/>
              <a:t>So it is generally ‘easier’ for water to condense onto larger aerosol particles.</a:t>
            </a:r>
          </a:p>
          <a:p>
            <a:pPr eaLnBrk="1" hangingPunct="1">
              <a:spcBef>
                <a:spcPct val="50000"/>
              </a:spcBef>
              <a:buFontTx/>
              <a:buNone/>
            </a:pPr>
            <a:r>
              <a:rPr lang="en-GB" altLang="en-US" sz="1800"/>
              <a:t>There is a theory that describes how fast water condenses onto aerosol particles. </a:t>
            </a:r>
          </a:p>
        </p:txBody>
      </p:sp>
      <p:grpSp>
        <p:nvGrpSpPr>
          <p:cNvPr id="2" name="Group 5">
            <a:extLst>
              <a:ext uri="{FF2B5EF4-FFF2-40B4-BE49-F238E27FC236}">
                <a16:creationId xmlns:a16="http://schemas.microsoft.com/office/drawing/2014/main" id="{2ACD330F-79F6-6564-2971-625A1B6CF440}"/>
              </a:ext>
            </a:extLst>
          </p:cNvPr>
          <p:cNvGrpSpPr>
            <a:grpSpLocks/>
          </p:cNvGrpSpPr>
          <p:nvPr/>
        </p:nvGrpSpPr>
        <p:grpSpPr bwMode="auto">
          <a:xfrm>
            <a:off x="4498975" y="3357563"/>
            <a:ext cx="2519363" cy="2519362"/>
            <a:chOff x="2200" y="2614"/>
            <a:chExt cx="1587" cy="1587"/>
          </a:xfrm>
        </p:grpSpPr>
        <p:sp>
          <p:nvSpPr>
            <p:cNvPr id="30729" name="Line 6">
              <a:extLst>
                <a:ext uri="{FF2B5EF4-FFF2-40B4-BE49-F238E27FC236}">
                  <a16:creationId xmlns:a16="http://schemas.microsoft.com/office/drawing/2014/main" id="{15F54E56-7BCD-E826-F7E3-214C1A21F14D}"/>
                </a:ext>
              </a:extLst>
            </p:cNvPr>
            <p:cNvSpPr>
              <a:spLocks noChangeShapeType="1"/>
            </p:cNvSpPr>
            <p:nvPr/>
          </p:nvSpPr>
          <p:spPr bwMode="auto">
            <a:xfrm flipH="1">
              <a:off x="3379" y="3067"/>
              <a:ext cx="363" cy="1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0" name="Line 7">
              <a:extLst>
                <a:ext uri="{FF2B5EF4-FFF2-40B4-BE49-F238E27FC236}">
                  <a16:creationId xmlns:a16="http://schemas.microsoft.com/office/drawing/2014/main" id="{40278CB6-6E27-94FA-F3D1-C22A6903F2EA}"/>
                </a:ext>
              </a:extLst>
            </p:cNvPr>
            <p:cNvSpPr>
              <a:spLocks noChangeShapeType="1"/>
            </p:cNvSpPr>
            <p:nvPr/>
          </p:nvSpPr>
          <p:spPr bwMode="auto">
            <a:xfrm flipH="1" flipV="1">
              <a:off x="3424" y="3657"/>
              <a:ext cx="363" cy="18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1" name="Line 8">
              <a:extLst>
                <a:ext uri="{FF2B5EF4-FFF2-40B4-BE49-F238E27FC236}">
                  <a16:creationId xmlns:a16="http://schemas.microsoft.com/office/drawing/2014/main" id="{E7199C18-76C3-D713-A60A-33B536550D0E}"/>
                </a:ext>
              </a:extLst>
            </p:cNvPr>
            <p:cNvSpPr>
              <a:spLocks noChangeShapeType="1"/>
            </p:cNvSpPr>
            <p:nvPr/>
          </p:nvSpPr>
          <p:spPr bwMode="auto">
            <a:xfrm flipH="1" flipV="1">
              <a:off x="2971" y="3838"/>
              <a:ext cx="0" cy="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2" name="Line 9">
              <a:extLst>
                <a:ext uri="{FF2B5EF4-FFF2-40B4-BE49-F238E27FC236}">
                  <a16:creationId xmlns:a16="http://schemas.microsoft.com/office/drawing/2014/main" id="{ADAD0BF7-B13D-0566-B2A1-5AC33DB36134}"/>
                </a:ext>
              </a:extLst>
            </p:cNvPr>
            <p:cNvSpPr>
              <a:spLocks noChangeShapeType="1"/>
            </p:cNvSpPr>
            <p:nvPr/>
          </p:nvSpPr>
          <p:spPr bwMode="auto">
            <a:xfrm flipV="1">
              <a:off x="2246" y="3657"/>
              <a:ext cx="362"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3" name="Line 10">
              <a:extLst>
                <a:ext uri="{FF2B5EF4-FFF2-40B4-BE49-F238E27FC236}">
                  <a16:creationId xmlns:a16="http://schemas.microsoft.com/office/drawing/2014/main" id="{D805C9FD-FBAE-006D-3E51-920C593B9BD1}"/>
                </a:ext>
              </a:extLst>
            </p:cNvPr>
            <p:cNvSpPr>
              <a:spLocks noChangeShapeType="1"/>
            </p:cNvSpPr>
            <p:nvPr/>
          </p:nvSpPr>
          <p:spPr bwMode="auto">
            <a:xfrm>
              <a:off x="2200" y="3067"/>
              <a:ext cx="408" cy="1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4" name="Line 11">
              <a:extLst>
                <a:ext uri="{FF2B5EF4-FFF2-40B4-BE49-F238E27FC236}">
                  <a16:creationId xmlns:a16="http://schemas.microsoft.com/office/drawing/2014/main" id="{C4E3C639-A447-EDCB-3E1F-F45B4D86FE55}"/>
                </a:ext>
              </a:extLst>
            </p:cNvPr>
            <p:cNvSpPr>
              <a:spLocks noChangeShapeType="1"/>
            </p:cNvSpPr>
            <p:nvPr/>
          </p:nvSpPr>
          <p:spPr bwMode="auto">
            <a:xfrm>
              <a:off x="2971" y="2614"/>
              <a:ext cx="0" cy="4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0725" name="Text Box 12">
            <a:extLst>
              <a:ext uri="{FF2B5EF4-FFF2-40B4-BE49-F238E27FC236}">
                <a16:creationId xmlns:a16="http://schemas.microsoft.com/office/drawing/2014/main" id="{A43E2064-B0F9-9442-CD53-FF1D9CC19B8D}"/>
              </a:ext>
            </a:extLst>
          </p:cNvPr>
          <p:cNvSpPr txBox="1">
            <a:spLocks noChangeArrowheads="1"/>
          </p:cNvSpPr>
          <p:nvPr/>
        </p:nvSpPr>
        <p:spPr bwMode="auto">
          <a:xfrm>
            <a:off x="6046788" y="3284538"/>
            <a:ext cx="3132137"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GB" altLang="en-US" sz="1400" i="1" u="sng"/>
              <a:t>Diffusion of vapour to a growing drop</a:t>
            </a:r>
          </a:p>
          <a:p>
            <a:pPr eaLnBrk="1" hangingPunct="1">
              <a:spcBef>
                <a:spcPct val="50000"/>
              </a:spcBef>
              <a:buFontTx/>
              <a:buNone/>
            </a:pPr>
            <a:r>
              <a:rPr lang="en-GB" altLang="en-US" sz="1400" i="1" u="sng"/>
              <a:t>(liberating latent heat)</a:t>
            </a:r>
          </a:p>
        </p:txBody>
      </p:sp>
      <p:sp>
        <p:nvSpPr>
          <p:cNvPr id="47125" name="Oval 21">
            <a:extLst>
              <a:ext uri="{FF2B5EF4-FFF2-40B4-BE49-F238E27FC236}">
                <a16:creationId xmlns:a16="http://schemas.microsoft.com/office/drawing/2014/main" id="{90E7F418-FE14-D963-0599-FB0B19006DC5}"/>
              </a:ext>
            </a:extLst>
          </p:cNvPr>
          <p:cNvSpPr>
            <a:spLocks noChangeArrowheads="1"/>
          </p:cNvSpPr>
          <p:nvPr/>
        </p:nvSpPr>
        <p:spPr bwMode="auto">
          <a:xfrm>
            <a:off x="5146675" y="4076700"/>
            <a:ext cx="1223963" cy="122396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pic>
        <p:nvPicPr>
          <p:cNvPr id="30727" name="Picture 4">
            <a:extLst>
              <a:ext uri="{FF2B5EF4-FFF2-40B4-BE49-F238E27FC236}">
                <a16:creationId xmlns:a16="http://schemas.microsoft.com/office/drawing/2014/main" id="{E5D3D852-786F-A307-EB2C-2C533BBC57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8243"/>
          <a:stretch>
            <a:fillRect/>
          </a:stretch>
        </p:blipFill>
        <p:spPr bwMode="auto">
          <a:xfrm>
            <a:off x="147638" y="4433888"/>
            <a:ext cx="43688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8" name="TextBox 5">
            <a:extLst>
              <a:ext uri="{FF2B5EF4-FFF2-40B4-BE49-F238E27FC236}">
                <a16:creationId xmlns:a16="http://schemas.microsoft.com/office/drawing/2014/main" id="{B0580282-FD75-447A-6587-8B7DC19183B2}"/>
              </a:ext>
            </a:extLst>
          </p:cNvPr>
          <p:cNvSpPr txBox="1">
            <a:spLocks noChangeArrowheads="1"/>
          </p:cNvSpPr>
          <p:nvPr/>
        </p:nvSpPr>
        <p:spPr bwMode="auto">
          <a:xfrm>
            <a:off x="5580063" y="4500563"/>
            <a:ext cx="466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i="1" dirty="0"/>
              <a:t>m</a:t>
            </a:r>
            <a:r>
              <a:rPr lang="en-US" altLang="en-US" sz="1800" i="1" baseline="-25000" dirty="0"/>
              <a:t>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7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25" grpId="0" animBg="1"/>
      <p:bldP spid="3072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1A139A5A-3523-F910-27F8-BC9B7BA111A4}"/>
              </a:ext>
            </a:extLst>
          </p:cNvPr>
          <p:cNvSpPr>
            <a:spLocks noGrp="1" noChangeArrowheads="1"/>
          </p:cNvSpPr>
          <p:nvPr>
            <p:ph type="title"/>
          </p:nvPr>
        </p:nvSpPr>
        <p:spPr>
          <a:xfrm>
            <a:off x="0" y="0"/>
            <a:ext cx="9144000" cy="1060450"/>
          </a:xfrm>
          <a:solidFill>
            <a:srgbClr val="0070C0"/>
          </a:solidFill>
        </p:spPr>
        <p:txBody>
          <a:bodyPr/>
          <a:lstStyle/>
          <a:p>
            <a:pPr eaLnBrk="1" hangingPunct="1"/>
            <a:r>
              <a:rPr lang="en-GB" altLang="en-US">
                <a:solidFill>
                  <a:schemeClr val="bg1"/>
                </a:solidFill>
              </a:rPr>
              <a:t>Representation of particle size</a:t>
            </a:r>
          </a:p>
        </p:txBody>
      </p:sp>
      <p:sp>
        <p:nvSpPr>
          <p:cNvPr id="31746" name="Rectangle 25">
            <a:extLst>
              <a:ext uri="{FF2B5EF4-FFF2-40B4-BE49-F238E27FC236}">
                <a16:creationId xmlns:a16="http://schemas.microsoft.com/office/drawing/2014/main" id="{6A3BE100-8630-73FA-A560-FDF0A43BA186}"/>
              </a:ext>
            </a:extLst>
          </p:cNvPr>
          <p:cNvSpPr>
            <a:spLocks noGrp="1" noChangeArrowheads="1"/>
          </p:cNvSpPr>
          <p:nvPr>
            <p:ph type="body" idx="1"/>
          </p:nvPr>
        </p:nvSpPr>
        <p:spPr>
          <a:xfrm>
            <a:off x="457200" y="5445125"/>
            <a:ext cx="8229600" cy="1112838"/>
          </a:xfrm>
        </p:spPr>
        <p:txBody>
          <a:bodyPr/>
          <a:lstStyle/>
          <a:p>
            <a:pPr eaLnBrk="1" hangingPunct="1">
              <a:lnSpc>
                <a:spcPct val="80000"/>
              </a:lnSpc>
            </a:pPr>
            <a:r>
              <a:rPr lang="en-GB" altLang="en-US" sz="1800" dirty="0"/>
              <a:t>It is too computationally expensive to solve a differential equation for each aerosol particle</a:t>
            </a:r>
          </a:p>
          <a:p>
            <a:pPr eaLnBrk="1" hangingPunct="1">
              <a:lnSpc>
                <a:spcPct val="80000"/>
              </a:lnSpc>
            </a:pPr>
            <a:r>
              <a:rPr lang="en-GB" altLang="en-US" sz="1800" b="1" dirty="0"/>
              <a:t>Therefore, we divide aerosol particles into size or mass categories and solve the growth of the category centre. </a:t>
            </a:r>
          </a:p>
          <a:p>
            <a:pPr eaLnBrk="1" hangingPunct="1">
              <a:lnSpc>
                <a:spcPct val="80000"/>
              </a:lnSpc>
            </a:pPr>
            <a:r>
              <a:rPr lang="en-GB" altLang="en-US" sz="1800" b="1" dirty="0"/>
              <a:t>This is called the ‘bin’  or ‘sectional’ approach</a:t>
            </a:r>
            <a:endParaRPr lang="en-GB" altLang="en-US" sz="1800" dirty="0"/>
          </a:p>
        </p:txBody>
      </p:sp>
      <p:pic>
        <p:nvPicPr>
          <p:cNvPr id="31747" name="Picture 4" descr="PSD">
            <a:extLst>
              <a:ext uri="{FF2B5EF4-FFF2-40B4-BE49-F238E27FC236}">
                <a16:creationId xmlns:a16="http://schemas.microsoft.com/office/drawing/2014/main" id="{1E27F414-5E52-9420-2ABF-5245922701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13" y="1050925"/>
            <a:ext cx="9144000" cy="417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5" name="Rectangle 7">
            <a:extLst>
              <a:ext uri="{FF2B5EF4-FFF2-40B4-BE49-F238E27FC236}">
                <a16:creationId xmlns:a16="http://schemas.microsoft.com/office/drawing/2014/main" id="{1569A0CA-4E5E-D180-B17B-1418FEA639C7}"/>
              </a:ext>
            </a:extLst>
          </p:cNvPr>
          <p:cNvSpPr>
            <a:spLocks noChangeArrowheads="1"/>
          </p:cNvSpPr>
          <p:nvPr/>
        </p:nvSpPr>
        <p:spPr bwMode="auto">
          <a:xfrm>
            <a:off x="3851275" y="2347913"/>
            <a:ext cx="504825" cy="233362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83976" name="Rectangle 8">
            <a:extLst>
              <a:ext uri="{FF2B5EF4-FFF2-40B4-BE49-F238E27FC236}">
                <a16:creationId xmlns:a16="http://schemas.microsoft.com/office/drawing/2014/main" id="{C39F91EA-E526-5C79-7425-B67494D72CA5}"/>
              </a:ext>
            </a:extLst>
          </p:cNvPr>
          <p:cNvSpPr>
            <a:spLocks noChangeArrowheads="1"/>
          </p:cNvSpPr>
          <p:nvPr/>
        </p:nvSpPr>
        <p:spPr bwMode="auto">
          <a:xfrm>
            <a:off x="4356100" y="2924175"/>
            <a:ext cx="504825" cy="17589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83977" name="Rectangle 9">
            <a:extLst>
              <a:ext uri="{FF2B5EF4-FFF2-40B4-BE49-F238E27FC236}">
                <a16:creationId xmlns:a16="http://schemas.microsoft.com/office/drawing/2014/main" id="{95C324BF-EA0B-9D85-3C6D-212959D18604}"/>
              </a:ext>
            </a:extLst>
          </p:cNvPr>
          <p:cNvSpPr>
            <a:spLocks noChangeArrowheads="1"/>
          </p:cNvSpPr>
          <p:nvPr/>
        </p:nvSpPr>
        <p:spPr bwMode="auto">
          <a:xfrm>
            <a:off x="4859338" y="3500438"/>
            <a:ext cx="504825" cy="118427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83978" name="Rectangle 10">
            <a:extLst>
              <a:ext uri="{FF2B5EF4-FFF2-40B4-BE49-F238E27FC236}">
                <a16:creationId xmlns:a16="http://schemas.microsoft.com/office/drawing/2014/main" id="{51ED8347-2593-AD80-33C4-800F531420A5}"/>
              </a:ext>
            </a:extLst>
          </p:cNvPr>
          <p:cNvSpPr>
            <a:spLocks noChangeArrowheads="1"/>
          </p:cNvSpPr>
          <p:nvPr/>
        </p:nvSpPr>
        <p:spPr bwMode="auto">
          <a:xfrm>
            <a:off x="5364163" y="3932238"/>
            <a:ext cx="504825" cy="73977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83980" name="Text Box 12">
            <a:extLst>
              <a:ext uri="{FF2B5EF4-FFF2-40B4-BE49-F238E27FC236}">
                <a16:creationId xmlns:a16="http://schemas.microsoft.com/office/drawing/2014/main" id="{000DEAE2-0608-E956-F9B3-2FCB738ADC63}"/>
              </a:ext>
            </a:extLst>
          </p:cNvPr>
          <p:cNvSpPr txBox="1">
            <a:spLocks noChangeArrowheads="1"/>
          </p:cNvSpPr>
          <p:nvPr/>
        </p:nvSpPr>
        <p:spPr bwMode="auto">
          <a:xfrm>
            <a:off x="2843213" y="4940300"/>
            <a:ext cx="3673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GB" altLang="en-US" sz="1800" b="1" i="1">
                <a:solidFill>
                  <a:srgbClr val="FF0000"/>
                </a:solidFill>
              </a:rPr>
              <a:t>D</a:t>
            </a:r>
            <a:r>
              <a:rPr lang="en-GB" altLang="en-US" sz="1800" b="1" i="1" baseline="-25000">
                <a:solidFill>
                  <a:srgbClr val="FF0000"/>
                </a:solidFill>
              </a:rPr>
              <a:t>1</a:t>
            </a:r>
            <a:r>
              <a:rPr lang="en-GB" altLang="en-US" sz="1800" b="1" i="1">
                <a:solidFill>
                  <a:srgbClr val="FF0000"/>
                </a:solidFill>
              </a:rPr>
              <a:t>, D</a:t>
            </a:r>
            <a:r>
              <a:rPr lang="en-GB" altLang="en-US" sz="1800" b="1" i="1" baseline="-25000">
                <a:solidFill>
                  <a:srgbClr val="FF0000"/>
                </a:solidFill>
              </a:rPr>
              <a:t>2</a:t>
            </a:r>
            <a:r>
              <a:rPr lang="en-GB" altLang="en-US" sz="1800" b="1" i="1">
                <a:solidFill>
                  <a:srgbClr val="FF0000"/>
                </a:solidFill>
              </a:rPr>
              <a:t>,…,D</a:t>
            </a:r>
            <a:r>
              <a:rPr lang="en-GB" altLang="en-US" sz="1800" b="1" i="1" baseline="-25000">
                <a:solidFill>
                  <a:srgbClr val="FF0000"/>
                </a:solidFill>
              </a:rPr>
              <a:t>n</a:t>
            </a:r>
            <a:r>
              <a:rPr lang="en-GB" altLang="en-US" sz="1800" b="1" i="1">
                <a:solidFill>
                  <a:srgbClr val="FF0000"/>
                </a:solidFill>
              </a:rPr>
              <a:t> </a:t>
            </a:r>
          </a:p>
        </p:txBody>
      </p:sp>
      <p:grpSp>
        <p:nvGrpSpPr>
          <p:cNvPr id="2" name="Group 20">
            <a:extLst>
              <a:ext uri="{FF2B5EF4-FFF2-40B4-BE49-F238E27FC236}">
                <a16:creationId xmlns:a16="http://schemas.microsoft.com/office/drawing/2014/main" id="{94C0D30A-F609-1A67-7F6F-4510D5FCAAA6}"/>
              </a:ext>
            </a:extLst>
          </p:cNvPr>
          <p:cNvGrpSpPr>
            <a:grpSpLocks/>
          </p:cNvGrpSpPr>
          <p:nvPr/>
        </p:nvGrpSpPr>
        <p:grpSpPr bwMode="auto">
          <a:xfrm>
            <a:off x="2843213" y="981075"/>
            <a:ext cx="576262" cy="3700463"/>
            <a:chOff x="1791" y="981"/>
            <a:chExt cx="363" cy="2331"/>
          </a:xfrm>
        </p:grpSpPr>
        <p:sp>
          <p:nvSpPr>
            <p:cNvPr id="31764" name="Rectangle 5">
              <a:extLst>
                <a:ext uri="{FF2B5EF4-FFF2-40B4-BE49-F238E27FC236}">
                  <a16:creationId xmlns:a16="http://schemas.microsoft.com/office/drawing/2014/main" id="{3A436871-74FF-FB2A-E9B1-AD0CCFBF8DAB}"/>
                </a:ext>
              </a:extLst>
            </p:cNvPr>
            <p:cNvSpPr>
              <a:spLocks noChangeArrowheads="1"/>
            </p:cNvSpPr>
            <p:nvPr/>
          </p:nvSpPr>
          <p:spPr bwMode="auto">
            <a:xfrm>
              <a:off x="1791" y="1271"/>
              <a:ext cx="318" cy="2041"/>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31765" name="Text Box 13">
              <a:extLst>
                <a:ext uri="{FF2B5EF4-FFF2-40B4-BE49-F238E27FC236}">
                  <a16:creationId xmlns:a16="http://schemas.microsoft.com/office/drawing/2014/main" id="{C087ACC9-DD22-8237-09BD-506655D316B2}"/>
                </a:ext>
              </a:extLst>
            </p:cNvPr>
            <p:cNvSpPr txBox="1">
              <a:spLocks noChangeArrowheads="1"/>
            </p:cNvSpPr>
            <p:nvPr/>
          </p:nvSpPr>
          <p:spPr bwMode="auto">
            <a:xfrm>
              <a:off x="1791" y="981"/>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GB" altLang="en-US" sz="1800" i="1">
                  <a:solidFill>
                    <a:srgbClr val="FF0000"/>
                  </a:solidFill>
                </a:rPr>
                <a:t>N</a:t>
              </a:r>
              <a:r>
                <a:rPr lang="en-GB" altLang="en-US" sz="1800" i="1" baseline="-25000">
                  <a:solidFill>
                    <a:srgbClr val="FF0000"/>
                  </a:solidFill>
                </a:rPr>
                <a:t>1</a:t>
              </a:r>
            </a:p>
          </p:txBody>
        </p:sp>
      </p:grpSp>
      <p:grpSp>
        <p:nvGrpSpPr>
          <p:cNvPr id="3" name="Group 21">
            <a:extLst>
              <a:ext uri="{FF2B5EF4-FFF2-40B4-BE49-F238E27FC236}">
                <a16:creationId xmlns:a16="http://schemas.microsoft.com/office/drawing/2014/main" id="{C29998DB-508C-C68F-EE40-C4C5C3684537}"/>
              </a:ext>
            </a:extLst>
          </p:cNvPr>
          <p:cNvGrpSpPr>
            <a:grpSpLocks/>
          </p:cNvGrpSpPr>
          <p:nvPr/>
        </p:nvGrpSpPr>
        <p:grpSpPr bwMode="auto">
          <a:xfrm>
            <a:off x="3346450" y="1052513"/>
            <a:ext cx="649288" cy="3629025"/>
            <a:chOff x="2108" y="1026"/>
            <a:chExt cx="409" cy="2286"/>
          </a:xfrm>
        </p:grpSpPr>
        <p:sp>
          <p:nvSpPr>
            <p:cNvPr id="31762" name="Rectangle 6">
              <a:extLst>
                <a:ext uri="{FF2B5EF4-FFF2-40B4-BE49-F238E27FC236}">
                  <a16:creationId xmlns:a16="http://schemas.microsoft.com/office/drawing/2014/main" id="{CD7F329C-6426-83D6-23FE-3F62B5C30EEE}"/>
                </a:ext>
              </a:extLst>
            </p:cNvPr>
            <p:cNvSpPr>
              <a:spLocks noChangeArrowheads="1"/>
            </p:cNvSpPr>
            <p:nvPr/>
          </p:nvSpPr>
          <p:spPr bwMode="auto">
            <a:xfrm>
              <a:off x="2108" y="1389"/>
              <a:ext cx="318" cy="1923"/>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31763" name="Text Box 14">
              <a:extLst>
                <a:ext uri="{FF2B5EF4-FFF2-40B4-BE49-F238E27FC236}">
                  <a16:creationId xmlns:a16="http://schemas.microsoft.com/office/drawing/2014/main" id="{273C1EBC-0BB3-75EF-13AC-81BED0A586EC}"/>
                </a:ext>
              </a:extLst>
            </p:cNvPr>
            <p:cNvSpPr txBox="1">
              <a:spLocks noChangeArrowheads="1"/>
            </p:cNvSpPr>
            <p:nvPr/>
          </p:nvSpPr>
          <p:spPr bwMode="auto">
            <a:xfrm>
              <a:off x="2154" y="1026"/>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GB" altLang="en-US" sz="1800" i="1">
                  <a:solidFill>
                    <a:srgbClr val="FF0000"/>
                  </a:solidFill>
                </a:rPr>
                <a:t>N</a:t>
              </a:r>
              <a:r>
                <a:rPr lang="en-GB" altLang="en-US" sz="1800" i="1" baseline="-25000">
                  <a:solidFill>
                    <a:srgbClr val="FF0000"/>
                  </a:solidFill>
                </a:rPr>
                <a:t>2</a:t>
              </a:r>
            </a:p>
          </p:txBody>
        </p:sp>
      </p:grpSp>
      <p:grpSp>
        <p:nvGrpSpPr>
          <p:cNvPr id="4" name="Group 22">
            <a:extLst>
              <a:ext uri="{FF2B5EF4-FFF2-40B4-BE49-F238E27FC236}">
                <a16:creationId xmlns:a16="http://schemas.microsoft.com/office/drawing/2014/main" id="{1912CF64-5E6D-CE57-F30C-CF038A18B013}"/>
              </a:ext>
            </a:extLst>
          </p:cNvPr>
          <p:cNvGrpSpPr>
            <a:grpSpLocks/>
          </p:cNvGrpSpPr>
          <p:nvPr/>
        </p:nvGrpSpPr>
        <p:grpSpPr bwMode="auto">
          <a:xfrm>
            <a:off x="5867400" y="3781425"/>
            <a:ext cx="649288" cy="892175"/>
            <a:chOff x="3696" y="2745"/>
            <a:chExt cx="409" cy="562"/>
          </a:xfrm>
        </p:grpSpPr>
        <p:sp>
          <p:nvSpPr>
            <p:cNvPr id="31760" name="Rectangle 11">
              <a:extLst>
                <a:ext uri="{FF2B5EF4-FFF2-40B4-BE49-F238E27FC236}">
                  <a16:creationId xmlns:a16="http://schemas.microsoft.com/office/drawing/2014/main" id="{206E0DEB-08AD-41DA-9C67-29218EBDFFE3}"/>
                </a:ext>
              </a:extLst>
            </p:cNvPr>
            <p:cNvSpPr>
              <a:spLocks noChangeArrowheads="1"/>
            </p:cNvSpPr>
            <p:nvPr/>
          </p:nvSpPr>
          <p:spPr bwMode="auto">
            <a:xfrm>
              <a:off x="3696" y="3113"/>
              <a:ext cx="318" cy="194"/>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31761" name="Text Box 15">
              <a:extLst>
                <a:ext uri="{FF2B5EF4-FFF2-40B4-BE49-F238E27FC236}">
                  <a16:creationId xmlns:a16="http://schemas.microsoft.com/office/drawing/2014/main" id="{4BD241BF-A9B1-FFA7-768A-72FDECC97BB2}"/>
                </a:ext>
              </a:extLst>
            </p:cNvPr>
            <p:cNvSpPr txBox="1">
              <a:spLocks noChangeArrowheads="1"/>
            </p:cNvSpPr>
            <p:nvPr/>
          </p:nvSpPr>
          <p:spPr bwMode="auto">
            <a:xfrm>
              <a:off x="3742" y="2745"/>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GB" altLang="en-US" sz="1800" i="1">
                  <a:solidFill>
                    <a:srgbClr val="FF0000"/>
                  </a:solidFill>
                </a:rPr>
                <a:t>N</a:t>
              </a:r>
              <a:r>
                <a:rPr lang="en-GB" altLang="en-US" sz="1800" i="1" baseline="-25000">
                  <a:solidFill>
                    <a:srgbClr val="FF0000"/>
                  </a:solidFill>
                </a:rPr>
                <a:t>n</a:t>
              </a:r>
            </a:p>
          </p:txBody>
        </p:sp>
      </p:grpSp>
      <p:sp>
        <p:nvSpPr>
          <p:cNvPr id="83987" name="Line 19">
            <a:extLst>
              <a:ext uri="{FF2B5EF4-FFF2-40B4-BE49-F238E27FC236}">
                <a16:creationId xmlns:a16="http://schemas.microsoft.com/office/drawing/2014/main" id="{C585C7AA-BD11-7DB5-B6C0-10B1B99B29DD}"/>
              </a:ext>
            </a:extLst>
          </p:cNvPr>
          <p:cNvSpPr>
            <a:spLocks noChangeShapeType="1"/>
          </p:cNvSpPr>
          <p:nvPr/>
        </p:nvSpPr>
        <p:spPr bwMode="auto">
          <a:xfrm>
            <a:off x="6227763" y="4508500"/>
            <a:ext cx="431800" cy="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3991" name="Rectangle 23">
            <a:extLst>
              <a:ext uri="{FF2B5EF4-FFF2-40B4-BE49-F238E27FC236}">
                <a16:creationId xmlns:a16="http://schemas.microsoft.com/office/drawing/2014/main" id="{9DC673A2-CB2D-9904-DC76-2CD65F229B5A}"/>
              </a:ext>
            </a:extLst>
          </p:cNvPr>
          <p:cNvSpPr>
            <a:spLocks noChangeArrowheads="1"/>
          </p:cNvSpPr>
          <p:nvPr/>
        </p:nvSpPr>
        <p:spPr bwMode="auto">
          <a:xfrm>
            <a:off x="6372225" y="4365625"/>
            <a:ext cx="504825" cy="287338"/>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83992" name="Text Box 24">
            <a:extLst>
              <a:ext uri="{FF2B5EF4-FFF2-40B4-BE49-F238E27FC236}">
                <a16:creationId xmlns:a16="http://schemas.microsoft.com/office/drawing/2014/main" id="{7F85F58F-ADC0-F1D0-0A9C-6ECED47B9212}"/>
              </a:ext>
            </a:extLst>
          </p:cNvPr>
          <p:cNvSpPr txBox="1">
            <a:spLocks noChangeArrowheads="1"/>
          </p:cNvSpPr>
          <p:nvPr/>
        </p:nvSpPr>
        <p:spPr bwMode="auto">
          <a:xfrm>
            <a:off x="6084888" y="2852738"/>
            <a:ext cx="1728787"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GB" altLang="en-US" sz="1800">
                <a:solidFill>
                  <a:srgbClr val="FF0000"/>
                </a:solidFill>
              </a:rPr>
              <a:t>Individual `bins</a:t>
            </a:r>
            <a:r>
              <a:rPr lang="ja-JP" altLang="en-GB" sz="1800">
                <a:solidFill>
                  <a:srgbClr val="FF0000"/>
                </a:solidFill>
              </a:rPr>
              <a:t>’</a:t>
            </a:r>
            <a:r>
              <a:rPr lang="en-GB" altLang="ja-JP" sz="1800">
                <a:solidFill>
                  <a:srgbClr val="FF0000"/>
                </a:solidFill>
              </a:rPr>
              <a:t> can grow or shrink</a:t>
            </a:r>
            <a:endParaRPr lang="en-GB" altLang="en-US" sz="1800">
              <a:solidFill>
                <a:srgbClr val="FF0000"/>
              </a:solidFill>
            </a:endParaRPr>
          </a:p>
        </p:txBody>
      </p:sp>
      <p:sp>
        <p:nvSpPr>
          <p:cNvPr id="31759" name="Slide Number Placeholder 24">
            <a:extLst>
              <a:ext uri="{FF2B5EF4-FFF2-40B4-BE49-F238E27FC236}">
                <a16:creationId xmlns:a16="http://schemas.microsoft.com/office/drawing/2014/main" id="{0C582AAB-8B6D-E834-D709-2014D6CF97D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A12EBB6B-9A5E-1B42-8159-E851A3BC27D2}" type="slidenum">
              <a:rPr lang="en-GB" altLang="en-US" sz="1400"/>
              <a:pPr>
                <a:spcBef>
                  <a:spcPct val="0"/>
                </a:spcBef>
                <a:buFontTx/>
                <a:buNone/>
              </a:pPr>
              <a:t>16</a:t>
            </a:fld>
            <a:endParaRPr lang="en-GB" altLang="en-US"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9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200"/>
                                  </p:stCondLst>
                                  <p:childTnLst>
                                    <p:set>
                                      <p:cBhvr>
                                        <p:cTn id="13" dur="1" fill="hold">
                                          <p:stCondLst>
                                            <p:cond delay="0"/>
                                          </p:stCondLst>
                                        </p:cTn>
                                        <p:tgtEl>
                                          <p:spTgt spid="3"/>
                                        </p:tgtEl>
                                        <p:attrNameLst>
                                          <p:attrName>style.visibility</p:attrName>
                                        </p:attrNameLst>
                                      </p:cBhvr>
                                      <p:to>
                                        <p:strVal val="visible"/>
                                      </p:to>
                                    </p:set>
                                  </p:childTnLst>
                                </p:cTn>
                              </p:par>
                            </p:childTnLst>
                          </p:cTn>
                        </p:par>
                        <p:par>
                          <p:cTn id="14" fill="hold" nodeType="afterGroup">
                            <p:stCondLst>
                              <p:cond delay="200"/>
                            </p:stCondLst>
                            <p:childTnLst>
                              <p:par>
                                <p:cTn id="15" presetID="1" presetClass="entr" presetSubtype="0" fill="hold" grpId="0" nodeType="afterEffect">
                                  <p:stCondLst>
                                    <p:cond delay="200"/>
                                  </p:stCondLst>
                                  <p:childTnLst>
                                    <p:set>
                                      <p:cBhvr>
                                        <p:cTn id="16" dur="1" fill="hold">
                                          <p:stCondLst>
                                            <p:cond delay="0"/>
                                          </p:stCondLst>
                                        </p:cTn>
                                        <p:tgtEl>
                                          <p:spTgt spid="83975"/>
                                        </p:tgtEl>
                                        <p:attrNameLst>
                                          <p:attrName>style.visibility</p:attrName>
                                        </p:attrNameLst>
                                      </p:cBhvr>
                                      <p:to>
                                        <p:strVal val="visible"/>
                                      </p:to>
                                    </p:set>
                                  </p:childTnLst>
                                </p:cTn>
                              </p:par>
                            </p:childTnLst>
                          </p:cTn>
                        </p:par>
                        <p:par>
                          <p:cTn id="17" fill="hold" nodeType="afterGroup">
                            <p:stCondLst>
                              <p:cond delay="400"/>
                            </p:stCondLst>
                            <p:childTnLst>
                              <p:par>
                                <p:cTn id="18" presetID="1" presetClass="entr" presetSubtype="0" fill="hold" grpId="0" nodeType="afterEffect">
                                  <p:stCondLst>
                                    <p:cond delay="200"/>
                                  </p:stCondLst>
                                  <p:childTnLst>
                                    <p:set>
                                      <p:cBhvr>
                                        <p:cTn id="19" dur="1" fill="hold">
                                          <p:stCondLst>
                                            <p:cond delay="0"/>
                                          </p:stCondLst>
                                        </p:cTn>
                                        <p:tgtEl>
                                          <p:spTgt spid="83976"/>
                                        </p:tgtEl>
                                        <p:attrNameLst>
                                          <p:attrName>style.visibility</p:attrName>
                                        </p:attrNameLst>
                                      </p:cBhvr>
                                      <p:to>
                                        <p:strVal val="visible"/>
                                      </p:to>
                                    </p:set>
                                  </p:childTnLst>
                                </p:cTn>
                              </p:par>
                            </p:childTnLst>
                          </p:cTn>
                        </p:par>
                        <p:par>
                          <p:cTn id="20" fill="hold" nodeType="afterGroup">
                            <p:stCondLst>
                              <p:cond delay="600"/>
                            </p:stCondLst>
                            <p:childTnLst>
                              <p:par>
                                <p:cTn id="21" presetID="1" presetClass="entr" presetSubtype="0" fill="hold" grpId="0" nodeType="afterEffect">
                                  <p:stCondLst>
                                    <p:cond delay="200"/>
                                  </p:stCondLst>
                                  <p:childTnLst>
                                    <p:set>
                                      <p:cBhvr>
                                        <p:cTn id="22" dur="1" fill="hold">
                                          <p:stCondLst>
                                            <p:cond delay="0"/>
                                          </p:stCondLst>
                                        </p:cTn>
                                        <p:tgtEl>
                                          <p:spTgt spid="83977"/>
                                        </p:tgtEl>
                                        <p:attrNameLst>
                                          <p:attrName>style.visibility</p:attrName>
                                        </p:attrNameLst>
                                      </p:cBhvr>
                                      <p:to>
                                        <p:strVal val="visible"/>
                                      </p:to>
                                    </p:set>
                                  </p:childTnLst>
                                </p:cTn>
                              </p:par>
                            </p:childTnLst>
                          </p:cTn>
                        </p:par>
                        <p:par>
                          <p:cTn id="23" fill="hold" nodeType="afterGroup">
                            <p:stCondLst>
                              <p:cond delay="800"/>
                            </p:stCondLst>
                            <p:childTnLst>
                              <p:par>
                                <p:cTn id="24" presetID="1" presetClass="entr" presetSubtype="0" fill="hold" grpId="0" nodeType="afterEffect">
                                  <p:stCondLst>
                                    <p:cond delay="200"/>
                                  </p:stCondLst>
                                  <p:childTnLst>
                                    <p:set>
                                      <p:cBhvr>
                                        <p:cTn id="25" dur="1" fill="hold">
                                          <p:stCondLst>
                                            <p:cond delay="0"/>
                                          </p:stCondLst>
                                        </p:cTn>
                                        <p:tgtEl>
                                          <p:spTgt spid="83978"/>
                                        </p:tgtEl>
                                        <p:attrNameLst>
                                          <p:attrName>style.visibility</p:attrName>
                                        </p:attrNameLst>
                                      </p:cBhvr>
                                      <p:to>
                                        <p:strVal val="visible"/>
                                      </p:to>
                                    </p:set>
                                  </p:childTnLst>
                                </p:cTn>
                              </p:par>
                            </p:childTnLst>
                          </p:cTn>
                        </p:par>
                        <p:par>
                          <p:cTn id="26" fill="hold" nodeType="afterGroup">
                            <p:stCondLst>
                              <p:cond delay="1000"/>
                            </p:stCondLst>
                            <p:childTnLst>
                              <p:par>
                                <p:cTn id="27" presetID="1" presetClass="entr" presetSubtype="0" fill="hold" nodeType="afterEffect">
                                  <p:stCondLst>
                                    <p:cond delay="20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3992">
                                            <p:txEl>
                                              <p:pRg st="0" end="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8398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39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5" grpId="0" animBg="1"/>
      <p:bldP spid="83976" grpId="0" animBg="1"/>
      <p:bldP spid="83977" grpId="0" animBg="1"/>
      <p:bldP spid="83978" grpId="0" animBg="1"/>
      <p:bldP spid="83980" grpId="0"/>
      <p:bldP spid="8399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CA5648EA-B586-413B-08F0-6B8FD97539A7}"/>
              </a:ext>
            </a:extLst>
          </p:cNvPr>
          <p:cNvSpPr>
            <a:spLocks noGrp="1" noChangeArrowheads="1"/>
          </p:cNvSpPr>
          <p:nvPr>
            <p:ph type="title"/>
          </p:nvPr>
        </p:nvSpPr>
        <p:spPr>
          <a:xfrm>
            <a:off x="0" y="0"/>
            <a:ext cx="9144000" cy="1060450"/>
          </a:xfrm>
          <a:solidFill>
            <a:srgbClr val="0070C0"/>
          </a:solidFill>
        </p:spPr>
        <p:txBody>
          <a:bodyPr/>
          <a:lstStyle/>
          <a:p>
            <a:pPr eaLnBrk="1" hangingPunct="1"/>
            <a:r>
              <a:rPr lang="en-GB" altLang="en-US">
                <a:solidFill>
                  <a:schemeClr val="bg1"/>
                </a:solidFill>
              </a:rPr>
              <a:t>Aerosol size distributions</a:t>
            </a:r>
          </a:p>
        </p:txBody>
      </p:sp>
      <p:sp>
        <p:nvSpPr>
          <p:cNvPr id="32770" name="Rectangle 25">
            <a:extLst>
              <a:ext uri="{FF2B5EF4-FFF2-40B4-BE49-F238E27FC236}">
                <a16:creationId xmlns:a16="http://schemas.microsoft.com/office/drawing/2014/main" id="{C09365FB-1678-CE7C-F3F8-984582C920DE}"/>
              </a:ext>
            </a:extLst>
          </p:cNvPr>
          <p:cNvSpPr>
            <a:spLocks noGrp="1" noChangeArrowheads="1"/>
          </p:cNvSpPr>
          <p:nvPr>
            <p:ph type="body" idx="1"/>
          </p:nvPr>
        </p:nvSpPr>
        <p:spPr>
          <a:xfrm>
            <a:off x="457200" y="4637088"/>
            <a:ext cx="8229600" cy="1920875"/>
          </a:xfrm>
        </p:spPr>
        <p:txBody>
          <a:bodyPr/>
          <a:lstStyle/>
          <a:p>
            <a:pPr eaLnBrk="1" hangingPunct="1">
              <a:lnSpc>
                <a:spcPct val="80000"/>
              </a:lnSpc>
            </a:pPr>
            <a:r>
              <a:rPr lang="en-GB" altLang="en-US" sz="1800" dirty="0"/>
              <a:t>Aerosol sizes tend to ‘clump’ into modes. They can be approximated by the log-normal distribution</a:t>
            </a:r>
          </a:p>
          <a:p>
            <a:pPr eaLnBrk="1" hangingPunct="1">
              <a:lnSpc>
                <a:spcPct val="80000"/>
              </a:lnSpc>
            </a:pPr>
            <a:r>
              <a:rPr lang="en-GB" altLang="en-US" sz="1800" dirty="0"/>
              <a:t>Log-normal is defined by 3 variables: total area, centre, and width.</a:t>
            </a:r>
          </a:p>
          <a:p>
            <a:pPr eaLnBrk="1" hangingPunct="1">
              <a:lnSpc>
                <a:spcPct val="80000"/>
              </a:lnSpc>
            </a:pPr>
            <a:r>
              <a:rPr lang="en-GB" altLang="en-US" sz="1800" dirty="0"/>
              <a:t>Background aerosol tends to have 3 modes as above. </a:t>
            </a:r>
          </a:p>
          <a:p>
            <a:pPr eaLnBrk="1" hangingPunct="1">
              <a:lnSpc>
                <a:spcPct val="80000"/>
              </a:lnSpc>
            </a:pPr>
            <a:r>
              <a:rPr lang="en-GB" altLang="en-US" sz="1800" dirty="0"/>
              <a:t>Chemically they can be organics, salts, etc</a:t>
            </a:r>
          </a:p>
          <a:p>
            <a:pPr eaLnBrk="1" hangingPunct="1">
              <a:lnSpc>
                <a:spcPct val="80000"/>
              </a:lnSpc>
            </a:pPr>
            <a:r>
              <a:rPr lang="en-GB" altLang="en-US" sz="1800" dirty="0"/>
              <a:t>They may act as CCN</a:t>
            </a:r>
          </a:p>
          <a:p>
            <a:pPr eaLnBrk="1" hangingPunct="1">
              <a:lnSpc>
                <a:spcPct val="80000"/>
              </a:lnSpc>
            </a:pPr>
            <a:r>
              <a:rPr lang="en-GB" altLang="en-US" sz="1800" dirty="0"/>
              <a:t>Geoengineering attempts to add sea salt aerosol to the background which can serve as more efficient CCN – and hopefully increase cloud drops.</a:t>
            </a:r>
          </a:p>
        </p:txBody>
      </p:sp>
      <p:sp>
        <p:nvSpPr>
          <p:cNvPr id="32771" name="Slide Number Placeholder 24">
            <a:extLst>
              <a:ext uri="{FF2B5EF4-FFF2-40B4-BE49-F238E27FC236}">
                <a16:creationId xmlns:a16="http://schemas.microsoft.com/office/drawing/2014/main" id="{9AC654CE-0E65-1207-CBE7-9CA6BA129DE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48FEE305-A06F-0149-9A19-A853D80E5209}" type="slidenum">
              <a:rPr lang="en-GB" altLang="en-US" sz="1400"/>
              <a:pPr>
                <a:spcBef>
                  <a:spcPct val="0"/>
                </a:spcBef>
                <a:buFontTx/>
                <a:buNone/>
              </a:pPr>
              <a:t>17</a:t>
            </a:fld>
            <a:endParaRPr lang="en-GB" altLang="en-US" sz="1400"/>
          </a:p>
        </p:txBody>
      </p:sp>
      <p:pic>
        <p:nvPicPr>
          <p:cNvPr id="32772" name="Picture 5">
            <a:extLst>
              <a:ext uri="{FF2B5EF4-FFF2-40B4-BE49-F238E27FC236}">
                <a16:creationId xmlns:a16="http://schemas.microsoft.com/office/drawing/2014/main" id="{A9B542C5-91CB-2BCF-F67A-A618A77A80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4425" y="1125538"/>
            <a:ext cx="42037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6CC98B5C-79B8-3DF8-0612-1078F13982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4425" y="1125538"/>
            <a:ext cx="42037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4" name="TextBox 8">
            <a:extLst>
              <a:ext uri="{FF2B5EF4-FFF2-40B4-BE49-F238E27FC236}">
                <a16:creationId xmlns:a16="http://schemas.microsoft.com/office/drawing/2014/main" id="{D7C9B30C-81D7-CC33-CB45-52EA0DDE3D17}"/>
              </a:ext>
            </a:extLst>
          </p:cNvPr>
          <p:cNvSpPr txBox="1">
            <a:spLocks noChangeArrowheads="1"/>
          </p:cNvSpPr>
          <p:nvPr/>
        </p:nvSpPr>
        <p:spPr bwMode="auto">
          <a:xfrm>
            <a:off x="4125913" y="2203450"/>
            <a:ext cx="720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i="1"/>
              <a:t>D</a:t>
            </a:r>
            <a:r>
              <a:rPr lang="en-US" altLang="en-US" sz="1800" i="1" baseline="-25000"/>
              <a:t>m</a:t>
            </a:r>
          </a:p>
        </p:txBody>
      </p:sp>
      <p:sp>
        <p:nvSpPr>
          <p:cNvPr id="32775" name="TextBox 27">
            <a:extLst>
              <a:ext uri="{FF2B5EF4-FFF2-40B4-BE49-F238E27FC236}">
                <a16:creationId xmlns:a16="http://schemas.microsoft.com/office/drawing/2014/main" id="{8077C2B6-C379-C63F-4F4D-BEBB60AF3B64}"/>
              </a:ext>
            </a:extLst>
          </p:cNvPr>
          <p:cNvSpPr txBox="1">
            <a:spLocks noChangeArrowheads="1"/>
          </p:cNvSpPr>
          <p:nvPr/>
        </p:nvSpPr>
        <p:spPr bwMode="auto">
          <a:xfrm>
            <a:off x="3463925" y="2062163"/>
            <a:ext cx="720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i="1"/>
              <a:t>D</a:t>
            </a:r>
            <a:r>
              <a:rPr lang="en-US" altLang="en-US" sz="1800" i="1" baseline="-25000"/>
              <a:t>m</a:t>
            </a:r>
          </a:p>
        </p:txBody>
      </p:sp>
      <p:sp>
        <p:nvSpPr>
          <p:cNvPr id="32776" name="TextBox 28">
            <a:extLst>
              <a:ext uri="{FF2B5EF4-FFF2-40B4-BE49-F238E27FC236}">
                <a16:creationId xmlns:a16="http://schemas.microsoft.com/office/drawing/2014/main" id="{AFCBF2AB-41A0-ECEC-CD8A-BE6D401F787F}"/>
              </a:ext>
            </a:extLst>
          </p:cNvPr>
          <p:cNvSpPr txBox="1">
            <a:spLocks noChangeArrowheads="1"/>
          </p:cNvSpPr>
          <p:nvPr/>
        </p:nvSpPr>
        <p:spPr bwMode="auto">
          <a:xfrm>
            <a:off x="3032125" y="2844800"/>
            <a:ext cx="720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i="1"/>
              <a:t>D</a:t>
            </a:r>
            <a:r>
              <a:rPr lang="en-US" altLang="en-US" sz="1800" i="1" baseline="-25000"/>
              <a:t>m</a:t>
            </a:r>
          </a:p>
        </p:txBody>
      </p:sp>
      <p:cxnSp>
        <p:nvCxnSpPr>
          <p:cNvPr id="11" name="Straight Connector 10">
            <a:extLst>
              <a:ext uri="{FF2B5EF4-FFF2-40B4-BE49-F238E27FC236}">
                <a16:creationId xmlns:a16="http://schemas.microsoft.com/office/drawing/2014/main" id="{90A2F149-7DEC-9F4D-80F1-AA0BD64A3E20}"/>
              </a:ext>
            </a:extLst>
          </p:cNvPr>
          <p:cNvCxnSpPr>
            <a:cxnSpLocks/>
          </p:cNvCxnSpPr>
          <p:nvPr/>
        </p:nvCxnSpPr>
        <p:spPr>
          <a:xfrm>
            <a:off x="4364038" y="2593975"/>
            <a:ext cx="0" cy="1649413"/>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CA5B5D0A-C8CC-AB45-85C6-1CF3DFF9A106}"/>
              </a:ext>
            </a:extLst>
          </p:cNvPr>
          <p:cNvCxnSpPr>
            <a:cxnSpLocks/>
          </p:cNvCxnSpPr>
          <p:nvPr/>
        </p:nvCxnSpPr>
        <p:spPr>
          <a:xfrm>
            <a:off x="3644900" y="2566988"/>
            <a:ext cx="0" cy="1649412"/>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3A4D8BD-6FF5-AD44-B7B1-5B5324255634}"/>
              </a:ext>
            </a:extLst>
          </p:cNvPr>
          <p:cNvCxnSpPr>
            <a:cxnSpLocks/>
          </p:cNvCxnSpPr>
          <p:nvPr/>
        </p:nvCxnSpPr>
        <p:spPr>
          <a:xfrm>
            <a:off x="3236913" y="3214688"/>
            <a:ext cx="0" cy="1001712"/>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32780" name="TextBox 12">
            <a:extLst>
              <a:ext uri="{FF2B5EF4-FFF2-40B4-BE49-F238E27FC236}">
                <a16:creationId xmlns:a16="http://schemas.microsoft.com/office/drawing/2014/main" id="{80E41FF2-3102-25F4-E185-9F7F838166AE}"/>
              </a:ext>
            </a:extLst>
          </p:cNvPr>
          <p:cNvSpPr txBox="1">
            <a:spLocks noChangeArrowheads="1"/>
          </p:cNvSpPr>
          <p:nvPr/>
        </p:nvSpPr>
        <p:spPr bwMode="auto">
          <a:xfrm>
            <a:off x="3608388" y="2998788"/>
            <a:ext cx="936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a:t>ln</a:t>
            </a:r>
            <a:r>
              <a:rPr lang="en-US" altLang="en-US" sz="1800">
                <a:latin typeface="Symbol" pitchFamily="2" charset="2"/>
              </a:rPr>
              <a:t>s</a:t>
            </a:r>
          </a:p>
        </p:txBody>
      </p:sp>
      <p:sp>
        <p:nvSpPr>
          <p:cNvPr id="32781" name="TextBox 35">
            <a:extLst>
              <a:ext uri="{FF2B5EF4-FFF2-40B4-BE49-F238E27FC236}">
                <a16:creationId xmlns:a16="http://schemas.microsoft.com/office/drawing/2014/main" id="{30E4A88C-EF63-0B30-C280-AB89C85A72A1}"/>
              </a:ext>
            </a:extLst>
          </p:cNvPr>
          <p:cNvSpPr txBox="1">
            <a:spLocks noChangeArrowheads="1"/>
          </p:cNvSpPr>
          <p:nvPr/>
        </p:nvSpPr>
        <p:spPr bwMode="auto">
          <a:xfrm>
            <a:off x="4329113" y="3060700"/>
            <a:ext cx="935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a:t>ln</a:t>
            </a:r>
            <a:r>
              <a:rPr lang="en-US" altLang="en-US" sz="1800">
                <a:latin typeface="Symbol" pitchFamily="2" charset="2"/>
              </a:rPr>
              <a:t>s</a:t>
            </a:r>
          </a:p>
        </p:txBody>
      </p:sp>
      <p:sp>
        <p:nvSpPr>
          <p:cNvPr id="32782" name="TextBox 36">
            <a:extLst>
              <a:ext uri="{FF2B5EF4-FFF2-40B4-BE49-F238E27FC236}">
                <a16:creationId xmlns:a16="http://schemas.microsoft.com/office/drawing/2014/main" id="{90C9362A-6574-6724-595B-B0369AD102E8}"/>
              </a:ext>
            </a:extLst>
          </p:cNvPr>
          <p:cNvSpPr txBox="1">
            <a:spLocks noChangeArrowheads="1"/>
          </p:cNvSpPr>
          <p:nvPr/>
        </p:nvSpPr>
        <p:spPr bwMode="auto">
          <a:xfrm>
            <a:off x="2816225" y="3359150"/>
            <a:ext cx="936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a:t>ln</a:t>
            </a:r>
            <a:r>
              <a:rPr lang="en-US" altLang="en-US" sz="1800">
                <a:latin typeface="Symbol" pitchFamily="2" charset="2"/>
              </a:rPr>
              <a:t>s</a:t>
            </a:r>
          </a:p>
        </p:txBody>
      </p:sp>
      <p:cxnSp>
        <p:nvCxnSpPr>
          <p:cNvPr id="15" name="Straight Arrow Connector 14">
            <a:extLst>
              <a:ext uri="{FF2B5EF4-FFF2-40B4-BE49-F238E27FC236}">
                <a16:creationId xmlns:a16="http://schemas.microsoft.com/office/drawing/2014/main" id="{F9FEFE17-C458-D540-9759-751B9B743B22}"/>
              </a:ext>
            </a:extLst>
          </p:cNvPr>
          <p:cNvCxnSpPr/>
          <p:nvPr/>
        </p:nvCxnSpPr>
        <p:spPr>
          <a:xfrm>
            <a:off x="3625850" y="3359150"/>
            <a:ext cx="360363"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1DBB4AFE-243D-A944-AE52-B08D23427287}"/>
              </a:ext>
            </a:extLst>
          </p:cNvPr>
          <p:cNvCxnSpPr/>
          <p:nvPr/>
        </p:nvCxnSpPr>
        <p:spPr>
          <a:xfrm>
            <a:off x="4371975" y="3502025"/>
            <a:ext cx="431800"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3091DB04-DB84-F74A-8E09-E5F09DDB47DE}"/>
              </a:ext>
            </a:extLst>
          </p:cNvPr>
          <p:cNvCxnSpPr>
            <a:cxnSpLocks/>
          </p:cNvCxnSpPr>
          <p:nvPr/>
        </p:nvCxnSpPr>
        <p:spPr>
          <a:xfrm rot="10800000">
            <a:off x="2960688" y="3790950"/>
            <a:ext cx="287337"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2786" name="TextBox 15">
            <a:extLst>
              <a:ext uri="{FF2B5EF4-FFF2-40B4-BE49-F238E27FC236}">
                <a16:creationId xmlns:a16="http://schemas.microsoft.com/office/drawing/2014/main" id="{2EC705A8-11B7-36B7-1111-224CFCEC5815}"/>
              </a:ext>
            </a:extLst>
          </p:cNvPr>
          <p:cNvSpPr txBox="1">
            <a:spLocks noChangeArrowheads="1"/>
          </p:cNvSpPr>
          <p:nvPr/>
        </p:nvSpPr>
        <p:spPr bwMode="auto">
          <a:xfrm>
            <a:off x="4044950" y="2770188"/>
            <a:ext cx="350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i="1"/>
              <a:t>N</a:t>
            </a:r>
          </a:p>
        </p:txBody>
      </p:sp>
      <p:sp>
        <p:nvSpPr>
          <p:cNvPr id="32787" name="TextBox 42">
            <a:extLst>
              <a:ext uri="{FF2B5EF4-FFF2-40B4-BE49-F238E27FC236}">
                <a16:creationId xmlns:a16="http://schemas.microsoft.com/office/drawing/2014/main" id="{4A77ACC3-BD9C-5075-737A-5AF355D1A4D6}"/>
              </a:ext>
            </a:extLst>
          </p:cNvPr>
          <p:cNvSpPr txBox="1">
            <a:spLocks noChangeArrowheads="1"/>
          </p:cNvSpPr>
          <p:nvPr/>
        </p:nvSpPr>
        <p:spPr bwMode="auto">
          <a:xfrm>
            <a:off x="3355975" y="2781300"/>
            <a:ext cx="352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i="1"/>
              <a:t>N</a:t>
            </a:r>
          </a:p>
        </p:txBody>
      </p:sp>
      <p:sp>
        <p:nvSpPr>
          <p:cNvPr id="32788" name="TextBox 43">
            <a:extLst>
              <a:ext uri="{FF2B5EF4-FFF2-40B4-BE49-F238E27FC236}">
                <a16:creationId xmlns:a16="http://schemas.microsoft.com/office/drawing/2014/main" id="{9B33331E-F71B-04D8-823A-38945A780F0E}"/>
              </a:ext>
            </a:extLst>
          </p:cNvPr>
          <p:cNvSpPr txBox="1">
            <a:spLocks noChangeArrowheads="1"/>
          </p:cNvSpPr>
          <p:nvPr/>
        </p:nvSpPr>
        <p:spPr bwMode="auto">
          <a:xfrm>
            <a:off x="2916238" y="3851275"/>
            <a:ext cx="350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i="1"/>
              <a:t>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a:extLst>
              <a:ext uri="{FF2B5EF4-FFF2-40B4-BE49-F238E27FC236}">
                <a16:creationId xmlns:a16="http://schemas.microsoft.com/office/drawing/2014/main" id="{490210AB-2BCA-D402-A9FD-7349AEEA7EC1}"/>
              </a:ext>
            </a:extLst>
          </p:cNvPr>
          <p:cNvSpPr>
            <a:spLocks noGrp="1" noChangeArrowheads="1"/>
          </p:cNvSpPr>
          <p:nvPr>
            <p:ph type="title"/>
          </p:nvPr>
        </p:nvSpPr>
        <p:spPr>
          <a:xfrm>
            <a:off x="0" y="-11113"/>
            <a:ext cx="9144000" cy="992188"/>
          </a:xfrm>
          <a:solidFill>
            <a:srgbClr val="92D050"/>
          </a:solidFill>
        </p:spPr>
        <p:txBody>
          <a:bodyPr tIns="35202"/>
          <a:lstStyle/>
          <a:p>
            <a:pPr eaLnBrk="1">
              <a:tabLst>
                <a:tab pos="406400" algn="l"/>
                <a:tab pos="814388" algn="l"/>
                <a:tab pos="1222375" algn="l"/>
                <a:tab pos="1628775" algn="l"/>
                <a:tab pos="2036763" algn="l"/>
                <a:tab pos="2444750" algn="l"/>
                <a:tab pos="2851150" algn="l"/>
                <a:tab pos="3259138" algn="l"/>
                <a:tab pos="3667125" algn="l"/>
                <a:tab pos="4075113" algn="l"/>
                <a:tab pos="4481513" algn="l"/>
                <a:tab pos="4889500" algn="l"/>
                <a:tab pos="5297488" algn="l"/>
                <a:tab pos="5703888" algn="l"/>
                <a:tab pos="6111875" algn="l"/>
                <a:tab pos="6519863" algn="l"/>
                <a:tab pos="6927850" algn="l"/>
                <a:tab pos="7334250" algn="l"/>
                <a:tab pos="7742238" algn="l"/>
                <a:tab pos="8150225" algn="l"/>
                <a:tab pos="8556625" algn="l"/>
                <a:tab pos="8964613" algn="l"/>
              </a:tabLst>
            </a:pPr>
            <a:r>
              <a:rPr lang="en-GB" altLang="en-US">
                <a:solidFill>
                  <a:srgbClr val="FFFFFF"/>
                </a:solidFill>
              </a:rPr>
              <a:t>System of equations</a:t>
            </a:r>
          </a:p>
        </p:txBody>
      </p:sp>
      <p:sp>
        <p:nvSpPr>
          <p:cNvPr id="33794" name="Text Box 4">
            <a:extLst>
              <a:ext uri="{FF2B5EF4-FFF2-40B4-BE49-F238E27FC236}">
                <a16:creationId xmlns:a16="http://schemas.microsoft.com/office/drawing/2014/main" id="{3A4EA4CF-664A-99DD-A384-47D9438A46E6}"/>
              </a:ext>
            </a:extLst>
          </p:cNvPr>
          <p:cNvSpPr txBox="1">
            <a:spLocks noChangeArrowheads="1"/>
          </p:cNvSpPr>
          <p:nvPr/>
        </p:nvSpPr>
        <p:spPr bwMode="auto">
          <a:xfrm>
            <a:off x="719138" y="5616575"/>
            <a:ext cx="73787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1638" tIns="55220" rIns="81638" bIns="40819"/>
          <a:lstStyle>
            <a:lvl1pPr>
              <a:spcBef>
                <a:spcPct val="20000"/>
              </a:spcBef>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chemeClr val="tx1"/>
                </a:solidFill>
                <a:latin typeface="Arial" panose="020B0604020202020204" pitchFamily="34" charset="0"/>
                <a:ea typeface="ＭＳ Ｐゴシック" panose="020B0600070205080204" pitchFamily="34" charset="-128"/>
              </a:defRPr>
            </a:lvl9pPr>
          </a:lstStyle>
          <a:p>
            <a:pPr eaLnBrk="1">
              <a:spcBef>
                <a:spcPct val="0"/>
              </a:spcBef>
              <a:buFontTx/>
              <a:buNone/>
            </a:pPr>
            <a:r>
              <a:rPr lang="en-GB" altLang="en-US" sz="1800" dirty="0">
                <a:solidFill>
                  <a:srgbClr val="000000"/>
                </a:solidFill>
              </a:rPr>
              <a:t>Note that equation 5 is solved for at least 60 size ‘bins’. So there are ~64 first order ODEs to solve. </a:t>
            </a:r>
          </a:p>
        </p:txBody>
      </p:sp>
      <p:pic>
        <p:nvPicPr>
          <p:cNvPr id="33795" name="Picture 2">
            <a:extLst>
              <a:ext uri="{FF2B5EF4-FFF2-40B4-BE49-F238E27FC236}">
                <a16:creationId xmlns:a16="http://schemas.microsoft.com/office/drawing/2014/main" id="{E4116113-862E-0A3A-07BB-A7F3F317EE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766"/>
          <a:stretch>
            <a:fillRect/>
          </a:stretch>
        </p:blipFill>
        <p:spPr bwMode="auto">
          <a:xfrm>
            <a:off x="971550" y="1123950"/>
            <a:ext cx="6696075" cy="454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A9A76725-ABBE-6F4B-B90F-8C98D81C2D8F}"/>
              </a:ext>
            </a:extLst>
          </p:cNvPr>
          <p:cNvSpPr>
            <a:spLocks noGrp="1" noChangeArrowheads="1"/>
          </p:cNvSpPr>
          <p:nvPr>
            <p:ph type="title"/>
          </p:nvPr>
        </p:nvSpPr>
        <p:spPr>
          <a:xfrm>
            <a:off x="0" y="0"/>
            <a:ext cx="9144000" cy="1143000"/>
          </a:xfrm>
          <a:solidFill>
            <a:schemeClr val="tx1"/>
          </a:solidFill>
        </p:spPr>
        <p:txBody>
          <a:bodyPr/>
          <a:lstStyle/>
          <a:p>
            <a:pPr eaLnBrk="1" hangingPunct="1">
              <a:defRPr/>
            </a:pPr>
            <a:r>
              <a:rPr lang="en-GB">
                <a:solidFill>
                  <a:schemeClr val="bg1"/>
                </a:solidFill>
                <a:cs typeface="+mj-cs"/>
              </a:rPr>
              <a:t>Main points</a:t>
            </a:r>
          </a:p>
        </p:txBody>
      </p:sp>
      <p:sp>
        <p:nvSpPr>
          <p:cNvPr id="63491" name="Rectangle 3">
            <a:extLst>
              <a:ext uri="{FF2B5EF4-FFF2-40B4-BE49-F238E27FC236}">
                <a16:creationId xmlns:a16="http://schemas.microsoft.com/office/drawing/2014/main" id="{A1EDAAAF-E13A-7A47-886C-A2F23C44015F}"/>
              </a:ext>
            </a:extLst>
          </p:cNvPr>
          <p:cNvSpPr>
            <a:spLocks noGrp="1" noChangeArrowheads="1"/>
          </p:cNvSpPr>
          <p:nvPr>
            <p:ph type="body" idx="1"/>
          </p:nvPr>
        </p:nvSpPr>
        <p:spPr>
          <a:xfrm>
            <a:off x="457200" y="1423988"/>
            <a:ext cx="8229600" cy="4525962"/>
          </a:xfrm>
        </p:spPr>
        <p:txBody>
          <a:bodyPr/>
          <a:lstStyle/>
          <a:p>
            <a:pPr eaLnBrk="1" hangingPunct="1">
              <a:lnSpc>
                <a:spcPct val="80000"/>
              </a:lnSpc>
              <a:defRPr/>
            </a:pPr>
            <a:r>
              <a:rPr lang="en-GB" sz="1700" dirty="0">
                <a:cs typeface="+mn-cs"/>
              </a:rPr>
              <a:t>Parcel models calculate the properties of a small parcel of air as it moves along a path in the atmosphere – usually in the vertical – by solving ODEs. </a:t>
            </a:r>
          </a:p>
          <a:p>
            <a:pPr eaLnBrk="1" hangingPunct="1">
              <a:lnSpc>
                <a:spcPct val="80000"/>
              </a:lnSpc>
              <a:defRPr/>
            </a:pPr>
            <a:endParaRPr lang="en-GB" sz="1700" dirty="0">
              <a:cs typeface="+mn-cs"/>
            </a:endParaRPr>
          </a:p>
          <a:p>
            <a:pPr eaLnBrk="1" hangingPunct="1">
              <a:lnSpc>
                <a:spcPct val="80000"/>
              </a:lnSpc>
              <a:defRPr/>
            </a:pPr>
            <a:r>
              <a:rPr lang="en-GB" sz="1700" dirty="0">
                <a:cs typeface="+mn-cs"/>
              </a:rPr>
              <a:t>Change in variables like pressure, give rise to changes in other variables (e.g. temperature). </a:t>
            </a:r>
          </a:p>
          <a:p>
            <a:pPr eaLnBrk="1" hangingPunct="1">
              <a:lnSpc>
                <a:spcPct val="80000"/>
              </a:lnSpc>
              <a:defRPr/>
            </a:pPr>
            <a:endParaRPr lang="en-GB" sz="1700" dirty="0">
              <a:cs typeface="+mn-cs"/>
            </a:endParaRPr>
          </a:p>
          <a:p>
            <a:pPr eaLnBrk="1" hangingPunct="1">
              <a:lnSpc>
                <a:spcPct val="80000"/>
              </a:lnSpc>
              <a:defRPr/>
            </a:pPr>
            <a:r>
              <a:rPr lang="en-GB" sz="1700" dirty="0">
                <a:cs typeface="+mn-cs"/>
              </a:rPr>
              <a:t>Water condenses when the water vapour pressure over a surface is high enough, but this pressure must be higher over a curved surface.</a:t>
            </a:r>
          </a:p>
          <a:p>
            <a:pPr eaLnBrk="1" hangingPunct="1">
              <a:lnSpc>
                <a:spcPct val="80000"/>
              </a:lnSpc>
              <a:defRPr/>
            </a:pPr>
            <a:endParaRPr lang="en-GB" sz="1700" dirty="0">
              <a:cs typeface="+mn-cs"/>
            </a:endParaRPr>
          </a:p>
          <a:p>
            <a:pPr eaLnBrk="1" hangingPunct="1">
              <a:lnSpc>
                <a:spcPct val="80000"/>
              </a:lnSpc>
              <a:defRPr/>
            </a:pPr>
            <a:r>
              <a:rPr lang="en-GB" sz="1700" dirty="0">
                <a:cs typeface="+mn-cs"/>
              </a:rPr>
              <a:t>We split particle sizes into many categories (or size bins) to make the calculations manageable.</a:t>
            </a:r>
          </a:p>
          <a:p>
            <a:pPr eaLnBrk="1" hangingPunct="1">
              <a:lnSpc>
                <a:spcPct val="80000"/>
              </a:lnSpc>
              <a:defRPr/>
            </a:pPr>
            <a:endParaRPr lang="en-GB" sz="1700" dirty="0">
              <a:cs typeface="+mn-cs"/>
            </a:endParaRPr>
          </a:p>
          <a:p>
            <a:pPr eaLnBrk="1" hangingPunct="1">
              <a:lnSpc>
                <a:spcPct val="80000"/>
              </a:lnSpc>
              <a:defRPr/>
            </a:pPr>
            <a:r>
              <a:rPr lang="en-GB" sz="1700" dirty="0">
                <a:cs typeface="+mn-cs"/>
              </a:rPr>
              <a:t>Aerosols are distributed approximately according to several lognormal distribution.</a:t>
            </a:r>
          </a:p>
          <a:p>
            <a:pPr eaLnBrk="1" hangingPunct="1">
              <a:lnSpc>
                <a:spcPct val="80000"/>
              </a:lnSpc>
              <a:defRPr/>
            </a:pPr>
            <a:r>
              <a:rPr lang="en-GB" sz="1700" b="1" dirty="0">
                <a:cs typeface="+mn-cs"/>
              </a:rPr>
              <a:t>Time permitting: </a:t>
            </a:r>
          </a:p>
          <a:p>
            <a:pPr lvl="1" eaLnBrk="1" hangingPunct="1">
              <a:lnSpc>
                <a:spcPct val="80000"/>
              </a:lnSpc>
              <a:defRPr/>
            </a:pPr>
            <a:r>
              <a:rPr lang="en-GB" sz="1700" dirty="0">
                <a:cs typeface="+mn-cs"/>
              </a:rPr>
              <a:t>We will each log-in to a server computer using SSH and SFTP </a:t>
            </a:r>
          </a:p>
          <a:p>
            <a:pPr lvl="1" eaLnBrk="1" hangingPunct="1">
              <a:lnSpc>
                <a:spcPct val="80000"/>
              </a:lnSpc>
              <a:defRPr/>
            </a:pPr>
            <a:r>
              <a:rPr lang="en-GB" sz="1700" dirty="0">
                <a:cs typeface="+mn-cs"/>
              </a:rPr>
              <a:t>We will run a parcel model to investigate marine cloud brightening</a:t>
            </a:r>
          </a:p>
          <a:p>
            <a:pPr lvl="1" eaLnBrk="1" hangingPunct="1">
              <a:lnSpc>
                <a:spcPct val="80000"/>
              </a:lnSpc>
              <a:defRPr/>
            </a:pPr>
            <a:r>
              <a:rPr lang="en-GB" sz="1700" dirty="0">
                <a:cs typeface="+mn-cs"/>
              </a:rPr>
              <a:t>We will try </a:t>
            </a:r>
          </a:p>
          <a:p>
            <a:pPr lvl="2" eaLnBrk="1" hangingPunct="1">
              <a:lnSpc>
                <a:spcPct val="80000"/>
              </a:lnSpc>
              <a:defRPr/>
            </a:pPr>
            <a:r>
              <a:rPr lang="en-GB" sz="1300" dirty="0">
                <a:cs typeface="+mn-cs"/>
              </a:rPr>
              <a:t>a simulation without adding sea spray – </a:t>
            </a:r>
            <a:r>
              <a:rPr lang="en-GB" sz="1300" dirty="0" err="1">
                <a:cs typeface="+mn-cs"/>
              </a:rPr>
              <a:t>default.png</a:t>
            </a:r>
            <a:endParaRPr lang="en-GB" sz="1300" dirty="0">
              <a:cs typeface="+mn-cs"/>
            </a:endParaRPr>
          </a:p>
          <a:p>
            <a:pPr lvl="2" eaLnBrk="1" hangingPunct="1">
              <a:lnSpc>
                <a:spcPct val="80000"/>
              </a:lnSpc>
              <a:defRPr/>
            </a:pPr>
            <a:r>
              <a:rPr lang="en-GB" sz="1300" dirty="0">
                <a:cs typeface="+mn-cs"/>
              </a:rPr>
              <a:t>a simulation adding 1000/cc sea spray particles: 1000_wide.png</a:t>
            </a:r>
          </a:p>
          <a:p>
            <a:pPr lvl="2" eaLnBrk="1" hangingPunct="1">
              <a:lnSpc>
                <a:spcPct val="80000"/>
              </a:lnSpc>
              <a:defRPr/>
            </a:pPr>
            <a:r>
              <a:rPr lang="en-GB" sz="1300" dirty="0">
                <a:cs typeface="+mn-cs"/>
              </a:rPr>
              <a:t>a simulation adding 1000/cc sea spray particles with a narrow distribution: 1000_narrow.png</a:t>
            </a:r>
          </a:p>
          <a:p>
            <a:pPr lvl="2" eaLnBrk="1" hangingPunct="1">
              <a:lnSpc>
                <a:spcPct val="80000"/>
              </a:lnSpc>
              <a:defRPr/>
            </a:pPr>
            <a:r>
              <a:rPr lang="en-GB" sz="1300" dirty="0">
                <a:cs typeface="+mn-cs"/>
              </a:rPr>
              <a:t>a simulation adding 100/cc sea spray particles: 100_narrow.png</a:t>
            </a:r>
          </a:p>
          <a:p>
            <a:pPr marL="457200" lvl="1" indent="0" eaLnBrk="1" hangingPunct="1">
              <a:lnSpc>
                <a:spcPct val="80000"/>
              </a:lnSpc>
              <a:buFontTx/>
              <a:buNone/>
              <a:defRPr/>
            </a:pPr>
            <a:endParaRPr lang="en-GB" sz="1700" dirty="0">
              <a:cs typeface="+mn-cs"/>
            </a:endParaRPr>
          </a:p>
          <a:p>
            <a:pPr eaLnBrk="1" hangingPunct="1">
              <a:lnSpc>
                <a:spcPct val="80000"/>
              </a:lnSpc>
              <a:defRPr/>
            </a:pPr>
            <a:endParaRPr lang="en-GB" sz="1700" dirty="0">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851C1-A2A6-08DD-03B7-DDC5FAD37AA6}"/>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A221AFA4-8809-0D8D-3185-59170EED0B31}"/>
              </a:ext>
            </a:extLst>
          </p:cNvPr>
          <p:cNvSpPr>
            <a:spLocks noGrp="1"/>
          </p:cNvSpPr>
          <p:nvPr>
            <p:ph idx="1"/>
          </p:nvPr>
        </p:nvSpPr>
        <p:spPr>
          <a:xfrm>
            <a:off x="323528" y="1196752"/>
            <a:ext cx="8712968" cy="4929411"/>
          </a:xfrm>
        </p:spPr>
        <p:txBody>
          <a:bodyPr/>
          <a:lstStyle/>
          <a:p>
            <a:r>
              <a:rPr lang="en-US" sz="2000" dirty="0"/>
              <a:t>Open up a CMD window (or terminal on Mac)</a:t>
            </a:r>
          </a:p>
          <a:p>
            <a:r>
              <a:rPr lang="en-US" sz="2000" dirty="0"/>
              <a:t>Type e.g.: </a:t>
            </a:r>
          </a:p>
          <a:p>
            <a:pPr lvl="1"/>
            <a:r>
              <a:rPr lang="en-US" sz="2000" dirty="0"/>
              <a:t>ssh </a:t>
            </a:r>
            <a:r>
              <a:rPr lang="en-US" sz="2000" dirty="0">
                <a:hlinkClick r:id="rId2"/>
              </a:rPr>
              <a:t>avhkl@130.88.66.57</a:t>
            </a:r>
            <a:endParaRPr lang="en-US" sz="2000" dirty="0"/>
          </a:p>
          <a:p>
            <a:r>
              <a:rPr lang="en-US" sz="2000" dirty="0"/>
              <a:t>Repeat but type, e.g.:</a:t>
            </a:r>
          </a:p>
          <a:p>
            <a:pPr lvl="1"/>
            <a:r>
              <a:rPr lang="en-US" sz="2000" dirty="0"/>
              <a:t>sftp </a:t>
            </a:r>
            <a:r>
              <a:rPr lang="en-US" sz="2000" dirty="0">
                <a:hlinkClick r:id="rId2"/>
              </a:rPr>
              <a:t>avhkl@130.88.66.57</a:t>
            </a:r>
            <a:endParaRPr lang="en-US" sz="2000" dirty="0"/>
          </a:p>
          <a:p>
            <a:r>
              <a:rPr lang="en-US" sz="2000" dirty="0">
                <a:highlight>
                  <a:srgbClr val="FFFF00"/>
                </a:highlight>
              </a:rPr>
              <a:t>To run the model type (in ssh window):</a:t>
            </a:r>
          </a:p>
          <a:p>
            <a:pPr lvl="1"/>
            <a:r>
              <a:rPr lang="en-US" sz="2000" dirty="0">
                <a:highlight>
                  <a:srgbClr val="FFFF00"/>
                </a:highlight>
              </a:rPr>
              <a:t>./</a:t>
            </a:r>
            <a:r>
              <a:rPr lang="en-US" sz="2000" dirty="0" err="1">
                <a:highlight>
                  <a:srgbClr val="FFFF00"/>
                </a:highlight>
              </a:rPr>
              <a:t>run.sh</a:t>
            </a:r>
            <a:r>
              <a:rPr lang="en-US" sz="2000" dirty="0">
                <a:highlight>
                  <a:srgbClr val="FFFF00"/>
                </a:highlight>
              </a:rPr>
              <a:t> </a:t>
            </a:r>
            <a:r>
              <a:rPr lang="en-US" sz="2000" dirty="0" err="1">
                <a:highlight>
                  <a:srgbClr val="FFFF00"/>
                </a:highlight>
              </a:rPr>
              <a:t>namelist.in</a:t>
            </a:r>
            <a:r>
              <a:rPr lang="en-US" sz="2000" dirty="0">
                <a:highlight>
                  <a:srgbClr val="FFFF00"/>
                </a:highlight>
              </a:rPr>
              <a:t> </a:t>
            </a:r>
            <a:r>
              <a:rPr lang="en-US" sz="2000" dirty="0" err="1">
                <a:highlight>
                  <a:srgbClr val="FFFF00"/>
                </a:highlight>
              </a:rPr>
              <a:t>default.png</a:t>
            </a:r>
            <a:endParaRPr lang="en-US" sz="2000" dirty="0">
              <a:highlight>
                <a:srgbClr val="FFFF00"/>
              </a:highlight>
            </a:endParaRPr>
          </a:p>
          <a:p>
            <a:pPr lvl="1"/>
            <a:r>
              <a:rPr lang="en-US" sz="2000" dirty="0">
                <a:highlight>
                  <a:srgbClr val="FFFF00"/>
                </a:highlight>
              </a:rPr>
              <a:t>./</a:t>
            </a:r>
            <a:r>
              <a:rPr lang="en-US" sz="2000" dirty="0" err="1">
                <a:highlight>
                  <a:srgbClr val="FFFF00"/>
                </a:highlight>
              </a:rPr>
              <a:t>run.sh</a:t>
            </a:r>
            <a:r>
              <a:rPr lang="en-US" sz="2000" dirty="0">
                <a:highlight>
                  <a:srgbClr val="FFFF00"/>
                </a:highlight>
              </a:rPr>
              <a:t> </a:t>
            </a:r>
            <a:r>
              <a:rPr lang="en-US" sz="2000" dirty="0" err="1">
                <a:highlight>
                  <a:srgbClr val="FFFF00"/>
                </a:highlight>
              </a:rPr>
              <a:t>namelist-a.in</a:t>
            </a:r>
            <a:r>
              <a:rPr lang="en-US" sz="2000" dirty="0">
                <a:highlight>
                  <a:srgbClr val="FFFF00"/>
                </a:highlight>
              </a:rPr>
              <a:t> 1000_wide.png</a:t>
            </a:r>
          </a:p>
          <a:p>
            <a:pPr lvl="1"/>
            <a:r>
              <a:rPr lang="en-US" sz="2000" dirty="0">
                <a:highlight>
                  <a:srgbClr val="FFFF00"/>
                </a:highlight>
              </a:rPr>
              <a:t>./</a:t>
            </a:r>
            <a:r>
              <a:rPr lang="en-US" sz="2000" dirty="0" err="1">
                <a:highlight>
                  <a:srgbClr val="FFFF00"/>
                </a:highlight>
              </a:rPr>
              <a:t>run.sh</a:t>
            </a:r>
            <a:r>
              <a:rPr lang="en-US" sz="2000" dirty="0">
                <a:highlight>
                  <a:srgbClr val="FFFF00"/>
                </a:highlight>
              </a:rPr>
              <a:t> </a:t>
            </a:r>
            <a:r>
              <a:rPr lang="en-US" sz="2000" dirty="0" err="1">
                <a:highlight>
                  <a:srgbClr val="FFFF00"/>
                </a:highlight>
              </a:rPr>
              <a:t>namelist-b.in</a:t>
            </a:r>
            <a:r>
              <a:rPr lang="en-US" sz="2000" dirty="0">
                <a:highlight>
                  <a:srgbClr val="FFFF00"/>
                </a:highlight>
              </a:rPr>
              <a:t> 1000_narrow.png</a:t>
            </a:r>
          </a:p>
          <a:p>
            <a:pPr lvl="1"/>
            <a:r>
              <a:rPr lang="en-US" sz="2000" dirty="0">
                <a:highlight>
                  <a:srgbClr val="FFFF00"/>
                </a:highlight>
              </a:rPr>
              <a:t>./</a:t>
            </a:r>
            <a:r>
              <a:rPr lang="en-US" sz="2000" dirty="0" err="1">
                <a:highlight>
                  <a:srgbClr val="FFFF00"/>
                </a:highlight>
              </a:rPr>
              <a:t>run.sh</a:t>
            </a:r>
            <a:r>
              <a:rPr lang="en-US" sz="2000" dirty="0">
                <a:highlight>
                  <a:srgbClr val="FFFF00"/>
                </a:highlight>
              </a:rPr>
              <a:t> </a:t>
            </a:r>
            <a:r>
              <a:rPr lang="en-US" sz="2000" dirty="0" err="1">
                <a:highlight>
                  <a:srgbClr val="FFFF00"/>
                </a:highlight>
              </a:rPr>
              <a:t>namelist-c.in</a:t>
            </a:r>
            <a:r>
              <a:rPr lang="en-US" sz="2000" dirty="0">
                <a:highlight>
                  <a:srgbClr val="FFFF00"/>
                </a:highlight>
              </a:rPr>
              <a:t> 100_narrow.png</a:t>
            </a:r>
            <a:endParaRPr lang="en-US" sz="2400" dirty="0">
              <a:highlight>
                <a:srgbClr val="FFFF00"/>
              </a:highlight>
            </a:endParaRPr>
          </a:p>
          <a:p>
            <a:r>
              <a:rPr lang="en-US" sz="2000" dirty="0">
                <a:highlight>
                  <a:srgbClr val="00FFFF"/>
                </a:highlight>
              </a:rPr>
              <a:t>To get these files type (in sftp window)</a:t>
            </a:r>
          </a:p>
          <a:p>
            <a:pPr lvl="1"/>
            <a:r>
              <a:rPr lang="en-US" sz="2000" dirty="0">
                <a:highlight>
                  <a:srgbClr val="00FFFF"/>
                </a:highlight>
              </a:rPr>
              <a:t>get /</a:t>
            </a:r>
            <a:r>
              <a:rPr lang="en-US" sz="2000" dirty="0" err="1">
                <a:highlight>
                  <a:srgbClr val="00FFFF"/>
                </a:highlight>
              </a:rPr>
              <a:t>tmp</a:t>
            </a:r>
            <a:r>
              <a:rPr lang="en-US" sz="2000" dirty="0">
                <a:highlight>
                  <a:srgbClr val="00FFFF"/>
                </a:highlight>
              </a:rPr>
              <a:t>/</a:t>
            </a:r>
            <a:r>
              <a:rPr lang="en-US" sz="2000" dirty="0" err="1">
                <a:highlight>
                  <a:srgbClr val="00FFFF"/>
                </a:highlight>
              </a:rPr>
              <a:t>avhkl</a:t>
            </a:r>
            <a:r>
              <a:rPr lang="en-US" sz="2000" dirty="0">
                <a:highlight>
                  <a:srgbClr val="00FFFF"/>
                </a:highlight>
              </a:rPr>
              <a:t>/</a:t>
            </a:r>
            <a:r>
              <a:rPr lang="en-US" sz="2000" dirty="0" err="1">
                <a:highlight>
                  <a:srgbClr val="00FFFF"/>
                </a:highlight>
              </a:rPr>
              <a:t>default.png</a:t>
            </a:r>
            <a:endParaRPr lang="en-US" sz="2000" dirty="0">
              <a:highlight>
                <a:srgbClr val="00FFFF"/>
              </a:highlight>
            </a:endParaRPr>
          </a:p>
          <a:p>
            <a:pPr lvl="1"/>
            <a:r>
              <a:rPr lang="en-US" sz="2000" dirty="0">
                <a:highlight>
                  <a:srgbClr val="00FFFF"/>
                </a:highlight>
              </a:rPr>
              <a:t>get /</a:t>
            </a:r>
            <a:r>
              <a:rPr lang="en-US" sz="2000" dirty="0" err="1">
                <a:highlight>
                  <a:srgbClr val="00FFFF"/>
                </a:highlight>
              </a:rPr>
              <a:t>tmp</a:t>
            </a:r>
            <a:r>
              <a:rPr lang="en-US" sz="2000" dirty="0">
                <a:highlight>
                  <a:srgbClr val="00FFFF"/>
                </a:highlight>
              </a:rPr>
              <a:t>/</a:t>
            </a:r>
            <a:r>
              <a:rPr lang="en-US" sz="2000" dirty="0" err="1">
                <a:highlight>
                  <a:srgbClr val="00FFFF"/>
                </a:highlight>
              </a:rPr>
              <a:t>avhkl</a:t>
            </a:r>
            <a:r>
              <a:rPr lang="en-US" sz="2000" dirty="0">
                <a:highlight>
                  <a:srgbClr val="00FFFF"/>
                </a:highlight>
              </a:rPr>
              <a:t>/1000_wide.png</a:t>
            </a:r>
          </a:p>
          <a:p>
            <a:pPr lvl="1"/>
            <a:r>
              <a:rPr lang="en-US" sz="2000" dirty="0">
                <a:highlight>
                  <a:srgbClr val="00FFFF"/>
                </a:highlight>
              </a:rPr>
              <a:t>get /</a:t>
            </a:r>
            <a:r>
              <a:rPr lang="en-US" sz="2000" dirty="0" err="1">
                <a:highlight>
                  <a:srgbClr val="00FFFF"/>
                </a:highlight>
              </a:rPr>
              <a:t>tmp</a:t>
            </a:r>
            <a:r>
              <a:rPr lang="en-US" sz="2000" dirty="0">
                <a:highlight>
                  <a:srgbClr val="00FFFF"/>
                </a:highlight>
              </a:rPr>
              <a:t>/</a:t>
            </a:r>
            <a:r>
              <a:rPr lang="en-US" sz="2000" dirty="0" err="1">
                <a:highlight>
                  <a:srgbClr val="00FFFF"/>
                </a:highlight>
              </a:rPr>
              <a:t>avhkl</a:t>
            </a:r>
            <a:r>
              <a:rPr lang="en-US" sz="2000" dirty="0">
                <a:highlight>
                  <a:srgbClr val="00FFFF"/>
                </a:highlight>
              </a:rPr>
              <a:t>/1000_narrow.png</a:t>
            </a:r>
          </a:p>
          <a:p>
            <a:pPr lvl="1"/>
            <a:r>
              <a:rPr lang="en-US" sz="2000" dirty="0">
                <a:highlight>
                  <a:srgbClr val="00FFFF"/>
                </a:highlight>
              </a:rPr>
              <a:t>get /</a:t>
            </a:r>
            <a:r>
              <a:rPr lang="en-US" sz="2000" dirty="0" err="1">
                <a:highlight>
                  <a:srgbClr val="00FFFF"/>
                </a:highlight>
              </a:rPr>
              <a:t>tmp</a:t>
            </a:r>
            <a:r>
              <a:rPr lang="en-US" sz="2000" dirty="0">
                <a:highlight>
                  <a:srgbClr val="00FFFF"/>
                </a:highlight>
              </a:rPr>
              <a:t>/</a:t>
            </a:r>
            <a:r>
              <a:rPr lang="en-US" sz="2000" dirty="0" err="1">
                <a:highlight>
                  <a:srgbClr val="00FFFF"/>
                </a:highlight>
              </a:rPr>
              <a:t>avhkl</a:t>
            </a:r>
            <a:r>
              <a:rPr lang="en-US" sz="2000" dirty="0">
                <a:highlight>
                  <a:srgbClr val="00FFFF"/>
                </a:highlight>
              </a:rPr>
              <a:t>/1000_narrow.png</a:t>
            </a:r>
          </a:p>
          <a:p>
            <a:pPr lvl="1"/>
            <a:endParaRPr lang="en-US" sz="2000" b="1" dirty="0">
              <a:highlight>
                <a:srgbClr val="FFFF00"/>
              </a:highlight>
            </a:endParaRPr>
          </a:p>
        </p:txBody>
      </p:sp>
    </p:spTree>
    <p:extLst>
      <p:ext uri="{BB962C8B-B14F-4D97-AF65-F5344CB8AC3E}">
        <p14:creationId xmlns:p14="http://schemas.microsoft.com/office/powerpoint/2010/main" val="4203348115"/>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2869</TotalTime>
  <Words>1421</Words>
  <Application>Microsoft Macintosh PowerPoint</Application>
  <PresentationFormat>On-screen Show (4:3)</PresentationFormat>
  <Paragraphs>159</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ＭＳ Ｐゴシック</vt:lpstr>
      <vt:lpstr>Symbol</vt:lpstr>
      <vt:lpstr>Times New Roman</vt:lpstr>
      <vt:lpstr>Default Design</vt:lpstr>
      <vt:lpstr>Week 3: Box and Parcel Models  in Atmospheric Science</vt:lpstr>
      <vt:lpstr>Contents</vt:lpstr>
      <vt:lpstr>Parcel Models</vt:lpstr>
      <vt:lpstr>Consider just the air in a ‘closed’ container</vt:lpstr>
      <vt:lpstr>Consider just the air in a ‘closed’ container</vt:lpstr>
      <vt:lpstr>Now consider the water vapour</vt:lpstr>
      <vt:lpstr>Now consider aerosol particles</vt:lpstr>
      <vt:lpstr>Now consider aerosol particles</vt:lpstr>
      <vt:lpstr>The number of cloud condensation nuclei is important to how much sun-light is reflected what do you notice?</vt:lpstr>
      <vt:lpstr>Some observational analysis by our Centre</vt:lpstr>
      <vt:lpstr>Latham’s geoengineering scheme (a way of combating global warming?)</vt:lpstr>
      <vt:lpstr>`Capillary action’ in pure water</vt:lpstr>
      <vt:lpstr>Why is the vapour pressure over a curved surface higher than flat?</vt:lpstr>
      <vt:lpstr>Kelvin’s equation used to calculate the equilibrium vapour pressure over a water drop </vt:lpstr>
      <vt:lpstr>PowerPoint Presentation</vt:lpstr>
      <vt:lpstr>Representation of particle size</vt:lpstr>
      <vt:lpstr>Aerosol size distributions</vt:lpstr>
      <vt:lpstr>System of equations</vt:lpstr>
      <vt:lpstr>Main points</vt:lpstr>
      <vt:lpstr>Exercise</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Measurement and Prediction Practical 1: projecting global temperature </dc:title>
  <dc:creator>mccikpc2</dc:creator>
  <cp:lastModifiedBy>Paul Connolly</cp:lastModifiedBy>
  <cp:revision>95</cp:revision>
  <cp:lastPrinted>2025-02-10T09:44:21Z</cp:lastPrinted>
  <dcterms:created xsi:type="dcterms:W3CDTF">2012-11-20T00:29:43Z</dcterms:created>
  <dcterms:modified xsi:type="dcterms:W3CDTF">2025-02-10T09:44:23Z</dcterms:modified>
</cp:coreProperties>
</file>